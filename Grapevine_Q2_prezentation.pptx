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1129DB-B816-4685-9CC5-9C9C4F5B6BC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8EC0FACE-E8F4-4A9F-8F67-93732CF42744}">
      <dgm:prSet phldrT="[Szöveg]"/>
      <dgm:spPr/>
      <dgm:t>
        <a:bodyPr/>
        <a:lstStyle/>
        <a:p>
          <a:r>
            <a:rPr lang="hu-HU" dirty="0" err="1" smtClean="0"/>
            <a:t>Internal</a:t>
          </a:r>
          <a:r>
            <a:rPr lang="hu-HU" dirty="0" smtClean="0"/>
            <a:t> </a:t>
          </a:r>
          <a:r>
            <a:rPr lang="hu-HU" dirty="0" err="1" smtClean="0"/>
            <a:t>data</a:t>
          </a:r>
          <a:r>
            <a:rPr lang="hu-HU" dirty="0" smtClean="0"/>
            <a:t> </a:t>
          </a:r>
          <a:r>
            <a:rPr lang="hu-HU" dirty="0" err="1" smtClean="0"/>
            <a:t>optimization</a:t>
          </a:r>
          <a:endParaRPr lang="hu-HU" dirty="0"/>
        </a:p>
      </dgm:t>
    </dgm:pt>
    <dgm:pt modelId="{8F08A257-751F-46AE-BAB2-20C6D5A66FA3}" type="parTrans" cxnId="{DC2D7424-C712-498F-8C28-B65443BEE5BE}">
      <dgm:prSet/>
      <dgm:spPr/>
      <dgm:t>
        <a:bodyPr/>
        <a:lstStyle/>
        <a:p>
          <a:endParaRPr lang="hu-HU"/>
        </a:p>
      </dgm:t>
    </dgm:pt>
    <dgm:pt modelId="{40449AB5-D73B-4437-A4AB-A09628E8393F}" type="sibTrans" cxnId="{DC2D7424-C712-498F-8C28-B65443BEE5BE}">
      <dgm:prSet/>
      <dgm:spPr/>
      <dgm:t>
        <a:bodyPr/>
        <a:lstStyle/>
        <a:p>
          <a:endParaRPr lang="hu-HU"/>
        </a:p>
      </dgm:t>
    </dgm:pt>
    <dgm:pt modelId="{9467BF86-EB93-49E8-BE42-35853126AD92}">
      <dgm:prSet phldrT="[Szöveg]"/>
      <dgm:spPr/>
      <dgm:t>
        <a:bodyPr/>
        <a:lstStyle/>
        <a:p>
          <a:r>
            <a:rPr lang="hu-HU" dirty="0" err="1" smtClean="0"/>
            <a:t>External</a:t>
          </a:r>
          <a:r>
            <a:rPr lang="hu-HU" dirty="0" smtClean="0"/>
            <a:t> </a:t>
          </a:r>
          <a:r>
            <a:rPr lang="hu-HU" dirty="0" err="1" smtClean="0"/>
            <a:t>data</a:t>
          </a:r>
          <a:r>
            <a:rPr lang="hu-HU" dirty="0" smtClean="0"/>
            <a:t> </a:t>
          </a:r>
          <a:r>
            <a:rPr lang="hu-HU" dirty="0" err="1" smtClean="0"/>
            <a:t>optimization</a:t>
          </a:r>
          <a:endParaRPr lang="hu-HU" dirty="0"/>
        </a:p>
      </dgm:t>
    </dgm:pt>
    <dgm:pt modelId="{2B301E68-93F1-482F-9DCB-2E2A6150F449}" type="parTrans" cxnId="{B3F8D105-AE93-48E7-9212-61E98E84090C}">
      <dgm:prSet/>
      <dgm:spPr/>
      <dgm:t>
        <a:bodyPr/>
        <a:lstStyle/>
        <a:p>
          <a:endParaRPr lang="hu-HU"/>
        </a:p>
      </dgm:t>
    </dgm:pt>
    <dgm:pt modelId="{641FB88F-690D-4109-A308-0F4131255504}" type="sibTrans" cxnId="{B3F8D105-AE93-48E7-9212-61E98E84090C}">
      <dgm:prSet/>
      <dgm:spPr/>
      <dgm:t>
        <a:bodyPr/>
        <a:lstStyle/>
        <a:p>
          <a:endParaRPr lang="hu-HU"/>
        </a:p>
      </dgm:t>
    </dgm:pt>
    <dgm:pt modelId="{5653B257-12D1-4CAA-8EC2-487FAAF737C3}">
      <dgm:prSet phldrT="[Szöveg]"/>
      <dgm:spPr/>
      <dgm:t>
        <a:bodyPr/>
        <a:lstStyle/>
        <a:p>
          <a:r>
            <a:rPr lang="hu-HU" dirty="0" err="1" smtClean="0"/>
            <a:t>Model</a:t>
          </a:r>
          <a:r>
            <a:rPr lang="hu-HU" dirty="0" smtClean="0"/>
            <a:t> </a:t>
          </a:r>
          <a:r>
            <a:rPr lang="hu-HU" dirty="0" err="1" smtClean="0"/>
            <a:t>optimization</a:t>
          </a:r>
          <a:endParaRPr lang="hu-HU" dirty="0"/>
        </a:p>
      </dgm:t>
    </dgm:pt>
    <dgm:pt modelId="{55258289-B85A-4600-B165-4A9E47221674}" type="parTrans" cxnId="{2BD5E673-47C6-454D-8400-76D1D0C36B2F}">
      <dgm:prSet/>
      <dgm:spPr/>
      <dgm:t>
        <a:bodyPr/>
        <a:lstStyle/>
        <a:p>
          <a:endParaRPr lang="hu-HU"/>
        </a:p>
      </dgm:t>
    </dgm:pt>
    <dgm:pt modelId="{4F699010-C00F-44BB-BED1-3F0534B5DDBF}" type="sibTrans" cxnId="{2BD5E673-47C6-454D-8400-76D1D0C36B2F}">
      <dgm:prSet/>
      <dgm:spPr/>
      <dgm:t>
        <a:bodyPr/>
        <a:lstStyle/>
        <a:p>
          <a:endParaRPr lang="hu-HU"/>
        </a:p>
      </dgm:t>
    </dgm:pt>
    <dgm:pt modelId="{91088C13-6684-4F19-B4CD-CE18ECF9153E}" type="pres">
      <dgm:prSet presAssocID="{561129DB-B816-4685-9CC5-9C9C4F5B6BC7}" presName="cycle" presStyleCnt="0">
        <dgm:presLayoutVars>
          <dgm:dir/>
          <dgm:resizeHandles val="exact"/>
        </dgm:presLayoutVars>
      </dgm:prSet>
      <dgm:spPr/>
    </dgm:pt>
    <dgm:pt modelId="{3EF0CFC7-66FA-4A43-83E2-42B56517E71D}" type="pres">
      <dgm:prSet presAssocID="{8EC0FACE-E8F4-4A9F-8F67-93732CF42744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61641CAF-CC7A-4291-97C1-354F5A4FBFE6}" type="pres">
      <dgm:prSet presAssocID="{40449AB5-D73B-4437-A4AB-A09628E8393F}" presName="sibTrans" presStyleLbl="sibTrans2D1" presStyleIdx="0" presStyleCnt="3"/>
      <dgm:spPr/>
    </dgm:pt>
    <dgm:pt modelId="{734872D8-62BA-4211-A8C1-E4C8E9B6DFA9}" type="pres">
      <dgm:prSet presAssocID="{40449AB5-D73B-4437-A4AB-A09628E8393F}" presName="connectorText" presStyleLbl="sibTrans2D1" presStyleIdx="0" presStyleCnt="3"/>
      <dgm:spPr/>
    </dgm:pt>
    <dgm:pt modelId="{BB27EA2F-5279-4FD6-9846-A58E4FEE1C2F}" type="pres">
      <dgm:prSet presAssocID="{9467BF86-EB93-49E8-BE42-35853126AD9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BBFB37D4-3E48-49ED-A6D1-8463A60BE8BB}" type="pres">
      <dgm:prSet presAssocID="{641FB88F-690D-4109-A308-0F4131255504}" presName="sibTrans" presStyleLbl="sibTrans2D1" presStyleIdx="1" presStyleCnt="3"/>
      <dgm:spPr/>
    </dgm:pt>
    <dgm:pt modelId="{DC708D25-E376-4EC4-B0C1-68D3A620D69F}" type="pres">
      <dgm:prSet presAssocID="{641FB88F-690D-4109-A308-0F4131255504}" presName="connectorText" presStyleLbl="sibTrans2D1" presStyleIdx="1" presStyleCnt="3"/>
      <dgm:spPr/>
    </dgm:pt>
    <dgm:pt modelId="{D4A126B3-E667-478E-83C3-6215469A2AC7}" type="pres">
      <dgm:prSet presAssocID="{5653B257-12D1-4CAA-8EC2-487FAAF737C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hu-HU"/>
        </a:p>
      </dgm:t>
    </dgm:pt>
    <dgm:pt modelId="{D288B3AA-C6F3-46FD-B3D3-7728986FD4A5}" type="pres">
      <dgm:prSet presAssocID="{4F699010-C00F-44BB-BED1-3F0534B5DDBF}" presName="sibTrans" presStyleLbl="sibTrans2D1" presStyleIdx="2" presStyleCnt="3"/>
      <dgm:spPr/>
    </dgm:pt>
    <dgm:pt modelId="{837AEF4D-C13D-43D1-AE11-42A8EDA63BEB}" type="pres">
      <dgm:prSet presAssocID="{4F699010-C00F-44BB-BED1-3F0534B5DDBF}" presName="connectorText" presStyleLbl="sibTrans2D1" presStyleIdx="2" presStyleCnt="3"/>
      <dgm:spPr/>
    </dgm:pt>
  </dgm:ptLst>
  <dgm:cxnLst>
    <dgm:cxn modelId="{E06A5FB6-D1B3-4524-BC8E-CE4F6E8F59E2}" type="presOf" srcId="{4F699010-C00F-44BB-BED1-3F0534B5DDBF}" destId="{837AEF4D-C13D-43D1-AE11-42A8EDA63BEB}" srcOrd="1" destOrd="0" presId="urn:microsoft.com/office/officeart/2005/8/layout/cycle2"/>
    <dgm:cxn modelId="{B3F8D105-AE93-48E7-9212-61E98E84090C}" srcId="{561129DB-B816-4685-9CC5-9C9C4F5B6BC7}" destId="{9467BF86-EB93-49E8-BE42-35853126AD92}" srcOrd="1" destOrd="0" parTransId="{2B301E68-93F1-482F-9DCB-2E2A6150F449}" sibTransId="{641FB88F-690D-4109-A308-0F4131255504}"/>
    <dgm:cxn modelId="{F3C502BB-80AC-430B-A6A5-459AE311EFFC}" type="presOf" srcId="{4F699010-C00F-44BB-BED1-3F0534B5DDBF}" destId="{D288B3AA-C6F3-46FD-B3D3-7728986FD4A5}" srcOrd="0" destOrd="0" presId="urn:microsoft.com/office/officeart/2005/8/layout/cycle2"/>
    <dgm:cxn modelId="{DA9A0C39-E10F-44B0-BAC1-457DFB82A409}" type="presOf" srcId="{40449AB5-D73B-4437-A4AB-A09628E8393F}" destId="{734872D8-62BA-4211-A8C1-E4C8E9B6DFA9}" srcOrd="1" destOrd="0" presId="urn:microsoft.com/office/officeart/2005/8/layout/cycle2"/>
    <dgm:cxn modelId="{811351F0-106E-4A6A-A963-0ACA0CF31515}" type="presOf" srcId="{641FB88F-690D-4109-A308-0F4131255504}" destId="{BBFB37D4-3E48-49ED-A6D1-8463A60BE8BB}" srcOrd="0" destOrd="0" presId="urn:microsoft.com/office/officeart/2005/8/layout/cycle2"/>
    <dgm:cxn modelId="{A7C8B2E6-6976-497B-B11A-3CEFF72710CD}" type="presOf" srcId="{8EC0FACE-E8F4-4A9F-8F67-93732CF42744}" destId="{3EF0CFC7-66FA-4A43-83E2-42B56517E71D}" srcOrd="0" destOrd="0" presId="urn:microsoft.com/office/officeart/2005/8/layout/cycle2"/>
    <dgm:cxn modelId="{3FE4ACDD-80AF-476A-A0C1-1B0156B5D58B}" type="presOf" srcId="{5653B257-12D1-4CAA-8EC2-487FAAF737C3}" destId="{D4A126B3-E667-478E-83C3-6215469A2AC7}" srcOrd="0" destOrd="0" presId="urn:microsoft.com/office/officeart/2005/8/layout/cycle2"/>
    <dgm:cxn modelId="{49505C03-0BF5-4ED4-B592-2028D7BFD52E}" type="presOf" srcId="{40449AB5-D73B-4437-A4AB-A09628E8393F}" destId="{61641CAF-CC7A-4291-97C1-354F5A4FBFE6}" srcOrd="0" destOrd="0" presId="urn:microsoft.com/office/officeart/2005/8/layout/cycle2"/>
    <dgm:cxn modelId="{DC2D7424-C712-498F-8C28-B65443BEE5BE}" srcId="{561129DB-B816-4685-9CC5-9C9C4F5B6BC7}" destId="{8EC0FACE-E8F4-4A9F-8F67-93732CF42744}" srcOrd="0" destOrd="0" parTransId="{8F08A257-751F-46AE-BAB2-20C6D5A66FA3}" sibTransId="{40449AB5-D73B-4437-A4AB-A09628E8393F}"/>
    <dgm:cxn modelId="{7464616E-6A8C-43F3-A541-C2BB426FF9BF}" type="presOf" srcId="{9467BF86-EB93-49E8-BE42-35853126AD92}" destId="{BB27EA2F-5279-4FD6-9846-A58E4FEE1C2F}" srcOrd="0" destOrd="0" presId="urn:microsoft.com/office/officeart/2005/8/layout/cycle2"/>
    <dgm:cxn modelId="{2BD5E673-47C6-454D-8400-76D1D0C36B2F}" srcId="{561129DB-B816-4685-9CC5-9C9C4F5B6BC7}" destId="{5653B257-12D1-4CAA-8EC2-487FAAF737C3}" srcOrd="2" destOrd="0" parTransId="{55258289-B85A-4600-B165-4A9E47221674}" sibTransId="{4F699010-C00F-44BB-BED1-3F0534B5DDBF}"/>
    <dgm:cxn modelId="{E873FE30-FD3E-4812-AD8F-D63B7163FC33}" type="presOf" srcId="{641FB88F-690D-4109-A308-0F4131255504}" destId="{DC708D25-E376-4EC4-B0C1-68D3A620D69F}" srcOrd="1" destOrd="0" presId="urn:microsoft.com/office/officeart/2005/8/layout/cycle2"/>
    <dgm:cxn modelId="{A837FF26-3924-48BD-9A3A-DE645EA3DB00}" type="presOf" srcId="{561129DB-B816-4685-9CC5-9C9C4F5B6BC7}" destId="{91088C13-6684-4F19-B4CD-CE18ECF9153E}" srcOrd="0" destOrd="0" presId="urn:microsoft.com/office/officeart/2005/8/layout/cycle2"/>
    <dgm:cxn modelId="{3D0F1C56-DC75-4394-86CD-103FCE735556}" type="presParOf" srcId="{91088C13-6684-4F19-B4CD-CE18ECF9153E}" destId="{3EF0CFC7-66FA-4A43-83E2-42B56517E71D}" srcOrd="0" destOrd="0" presId="urn:microsoft.com/office/officeart/2005/8/layout/cycle2"/>
    <dgm:cxn modelId="{47A68CE1-A872-4C87-847C-DDBC4C939191}" type="presParOf" srcId="{91088C13-6684-4F19-B4CD-CE18ECF9153E}" destId="{61641CAF-CC7A-4291-97C1-354F5A4FBFE6}" srcOrd="1" destOrd="0" presId="urn:microsoft.com/office/officeart/2005/8/layout/cycle2"/>
    <dgm:cxn modelId="{82E4A6CF-FB6E-4EC8-8D09-BDF03CC7EBEC}" type="presParOf" srcId="{61641CAF-CC7A-4291-97C1-354F5A4FBFE6}" destId="{734872D8-62BA-4211-A8C1-E4C8E9B6DFA9}" srcOrd="0" destOrd="0" presId="urn:microsoft.com/office/officeart/2005/8/layout/cycle2"/>
    <dgm:cxn modelId="{10771E8E-760E-4E49-875C-66F6C364A812}" type="presParOf" srcId="{91088C13-6684-4F19-B4CD-CE18ECF9153E}" destId="{BB27EA2F-5279-4FD6-9846-A58E4FEE1C2F}" srcOrd="2" destOrd="0" presId="urn:microsoft.com/office/officeart/2005/8/layout/cycle2"/>
    <dgm:cxn modelId="{AAA4AA34-46D8-4FAD-8279-E0C68AE10086}" type="presParOf" srcId="{91088C13-6684-4F19-B4CD-CE18ECF9153E}" destId="{BBFB37D4-3E48-49ED-A6D1-8463A60BE8BB}" srcOrd="3" destOrd="0" presId="urn:microsoft.com/office/officeart/2005/8/layout/cycle2"/>
    <dgm:cxn modelId="{7E55A001-A833-4C36-B4FF-61F68240C7C6}" type="presParOf" srcId="{BBFB37D4-3E48-49ED-A6D1-8463A60BE8BB}" destId="{DC708D25-E376-4EC4-B0C1-68D3A620D69F}" srcOrd="0" destOrd="0" presId="urn:microsoft.com/office/officeart/2005/8/layout/cycle2"/>
    <dgm:cxn modelId="{A42C7E2C-1BB2-4AAB-9D4D-E8D71473C40D}" type="presParOf" srcId="{91088C13-6684-4F19-B4CD-CE18ECF9153E}" destId="{D4A126B3-E667-478E-83C3-6215469A2AC7}" srcOrd="4" destOrd="0" presId="urn:microsoft.com/office/officeart/2005/8/layout/cycle2"/>
    <dgm:cxn modelId="{4B413262-34AC-48EB-955F-851C42F79CFC}" type="presParOf" srcId="{91088C13-6684-4F19-B4CD-CE18ECF9153E}" destId="{D288B3AA-C6F3-46FD-B3D3-7728986FD4A5}" srcOrd="5" destOrd="0" presId="urn:microsoft.com/office/officeart/2005/8/layout/cycle2"/>
    <dgm:cxn modelId="{B6B4CFED-1A35-45A9-BCBB-2BCE4A94F94F}" type="presParOf" srcId="{D288B3AA-C6F3-46FD-B3D3-7728986FD4A5}" destId="{837AEF4D-C13D-43D1-AE11-42A8EDA63BE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0CFC7-66FA-4A43-83E2-42B56517E71D}">
      <dsp:nvSpPr>
        <dsp:cNvPr id="0" name=""/>
        <dsp:cNvSpPr/>
      </dsp:nvSpPr>
      <dsp:spPr>
        <a:xfrm>
          <a:off x="1721629" y="481"/>
          <a:ext cx="1403335" cy="1403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300" kern="1200" dirty="0" err="1" smtClean="0"/>
            <a:t>Internal</a:t>
          </a:r>
          <a:r>
            <a:rPr lang="hu-HU" sz="1300" kern="1200" dirty="0" smtClean="0"/>
            <a:t> </a:t>
          </a:r>
          <a:r>
            <a:rPr lang="hu-HU" sz="1300" kern="1200" dirty="0" err="1" smtClean="0"/>
            <a:t>data</a:t>
          </a:r>
          <a:r>
            <a:rPr lang="hu-HU" sz="1300" kern="1200" dirty="0" smtClean="0"/>
            <a:t> </a:t>
          </a:r>
          <a:r>
            <a:rPr lang="hu-HU" sz="1300" kern="1200" dirty="0" err="1" smtClean="0"/>
            <a:t>optimization</a:t>
          </a:r>
          <a:endParaRPr lang="hu-HU" sz="1300" kern="1200" dirty="0"/>
        </a:p>
      </dsp:txBody>
      <dsp:txXfrm>
        <a:off x="1927143" y="205995"/>
        <a:ext cx="992307" cy="992307"/>
      </dsp:txXfrm>
    </dsp:sp>
    <dsp:sp modelId="{61641CAF-CC7A-4291-97C1-354F5A4FBFE6}">
      <dsp:nvSpPr>
        <dsp:cNvPr id="0" name=""/>
        <dsp:cNvSpPr/>
      </dsp:nvSpPr>
      <dsp:spPr>
        <a:xfrm rot="3600000">
          <a:off x="2758245" y="1369547"/>
          <a:ext cx="374195" cy="473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hu-HU" sz="1100" kern="1200"/>
        </a:p>
      </dsp:txBody>
      <dsp:txXfrm>
        <a:off x="2786310" y="1415663"/>
        <a:ext cx="261937" cy="284175"/>
      </dsp:txXfrm>
    </dsp:sp>
    <dsp:sp modelId="{BB27EA2F-5279-4FD6-9846-A58E4FEE1C2F}">
      <dsp:nvSpPr>
        <dsp:cNvPr id="0" name=""/>
        <dsp:cNvSpPr/>
      </dsp:nvSpPr>
      <dsp:spPr>
        <a:xfrm>
          <a:off x="2776312" y="1827245"/>
          <a:ext cx="1403335" cy="1403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300" kern="1200" dirty="0" err="1" smtClean="0"/>
            <a:t>External</a:t>
          </a:r>
          <a:r>
            <a:rPr lang="hu-HU" sz="1300" kern="1200" dirty="0" smtClean="0"/>
            <a:t> </a:t>
          </a:r>
          <a:r>
            <a:rPr lang="hu-HU" sz="1300" kern="1200" dirty="0" err="1" smtClean="0"/>
            <a:t>data</a:t>
          </a:r>
          <a:r>
            <a:rPr lang="hu-HU" sz="1300" kern="1200" dirty="0" smtClean="0"/>
            <a:t> </a:t>
          </a:r>
          <a:r>
            <a:rPr lang="hu-HU" sz="1300" kern="1200" dirty="0" err="1" smtClean="0"/>
            <a:t>optimization</a:t>
          </a:r>
          <a:endParaRPr lang="hu-HU" sz="1300" kern="1200" dirty="0"/>
        </a:p>
      </dsp:txBody>
      <dsp:txXfrm>
        <a:off x="2981826" y="2032759"/>
        <a:ext cx="992307" cy="992307"/>
      </dsp:txXfrm>
    </dsp:sp>
    <dsp:sp modelId="{BBFB37D4-3E48-49ED-A6D1-8463A60BE8BB}">
      <dsp:nvSpPr>
        <dsp:cNvPr id="0" name=""/>
        <dsp:cNvSpPr/>
      </dsp:nvSpPr>
      <dsp:spPr>
        <a:xfrm rot="10800000">
          <a:off x="2246790" y="2292100"/>
          <a:ext cx="374195" cy="473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hu-HU" sz="1100" kern="1200"/>
        </a:p>
      </dsp:txBody>
      <dsp:txXfrm rot="10800000">
        <a:off x="2359048" y="2386825"/>
        <a:ext cx="261937" cy="284175"/>
      </dsp:txXfrm>
    </dsp:sp>
    <dsp:sp modelId="{D4A126B3-E667-478E-83C3-6215469A2AC7}">
      <dsp:nvSpPr>
        <dsp:cNvPr id="0" name=""/>
        <dsp:cNvSpPr/>
      </dsp:nvSpPr>
      <dsp:spPr>
        <a:xfrm>
          <a:off x="666947" y="1827245"/>
          <a:ext cx="1403335" cy="14033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u-HU" sz="1300" kern="1200" dirty="0" err="1" smtClean="0"/>
            <a:t>Model</a:t>
          </a:r>
          <a:r>
            <a:rPr lang="hu-HU" sz="1300" kern="1200" dirty="0" smtClean="0"/>
            <a:t> </a:t>
          </a:r>
          <a:r>
            <a:rPr lang="hu-HU" sz="1300" kern="1200" dirty="0" err="1" smtClean="0"/>
            <a:t>optimization</a:t>
          </a:r>
          <a:endParaRPr lang="hu-HU" sz="1300" kern="1200" dirty="0"/>
        </a:p>
      </dsp:txBody>
      <dsp:txXfrm>
        <a:off x="872461" y="2032759"/>
        <a:ext cx="992307" cy="992307"/>
      </dsp:txXfrm>
    </dsp:sp>
    <dsp:sp modelId="{D288B3AA-C6F3-46FD-B3D3-7728986FD4A5}">
      <dsp:nvSpPr>
        <dsp:cNvPr id="0" name=""/>
        <dsp:cNvSpPr/>
      </dsp:nvSpPr>
      <dsp:spPr>
        <a:xfrm rot="18000000">
          <a:off x="1703562" y="1387890"/>
          <a:ext cx="374195" cy="473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hu-HU" sz="1100" kern="1200"/>
        </a:p>
      </dsp:txBody>
      <dsp:txXfrm>
        <a:off x="1731627" y="1531224"/>
        <a:ext cx="261937" cy="284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926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645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815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98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588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360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654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666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826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757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0461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8582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8938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5945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3297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98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A23BC-9C75-46C4-8063-93E6E91DA512}" type="datetimeFigureOut">
              <a:rPr lang="hu-HU" smtClean="0"/>
              <a:t>2022. 03. 29.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45AAD7-20E8-479C-B87B-F0B0ED31EC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199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Grapevine</a:t>
            </a:r>
            <a:r>
              <a:rPr lang="hu-HU" dirty="0" smtClean="0"/>
              <a:t> </a:t>
            </a:r>
            <a:r>
              <a:rPr lang="hu-HU" dirty="0" err="1" smtClean="0"/>
              <a:t>assignment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2: Problem Solving &amp; Planning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101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194486" y="463422"/>
            <a:ext cx="9144000" cy="3490740"/>
          </a:xfrm>
        </p:spPr>
        <p:txBody>
          <a:bodyPr>
            <a:normAutofit/>
          </a:bodyPr>
          <a:lstStyle/>
          <a:p>
            <a:pPr algn="l"/>
            <a:r>
              <a:rPr lang="hu-HU" sz="3200" b="1" dirty="0" err="1" smtClean="0"/>
              <a:t>Recommendations</a:t>
            </a:r>
            <a:r>
              <a:rPr lang="hu-HU" sz="3200" b="1" dirty="0" smtClean="0"/>
              <a:t> </a:t>
            </a:r>
            <a:r>
              <a:rPr lang="hu-HU" sz="3200" b="1" dirty="0" err="1" smtClean="0"/>
              <a:t>engine</a:t>
            </a:r>
            <a:r>
              <a:rPr lang="hu-HU" sz="3200" b="1" dirty="0" smtClean="0"/>
              <a:t> </a:t>
            </a:r>
            <a:r>
              <a:rPr lang="hu-HU" sz="3200" b="1" dirty="0" err="1" smtClean="0"/>
              <a:t>optimization</a:t>
            </a:r>
            <a:r>
              <a:rPr lang="hu-HU" sz="3200" b="1" dirty="0" smtClean="0"/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hu-HU" sz="3200" dirty="0" err="1" smtClean="0"/>
              <a:t>Internal</a:t>
            </a:r>
            <a:r>
              <a:rPr lang="hu-HU" sz="3200" dirty="0" smtClean="0"/>
              <a:t> </a:t>
            </a:r>
            <a:r>
              <a:rPr lang="hu-HU" sz="3200" dirty="0" err="1" smtClean="0"/>
              <a:t>data</a:t>
            </a:r>
            <a:r>
              <a:rPr lang="hu-HU" sz="3200" dirty="0" smtClean="0"/>
              <a:t> </a:t>
            </a:r>
            <a:r>
              <a:rPr lang="hu-HU" sz="3200" dirty="0" err="1" smtClean="0"/>
              <a:t>optimization</a:t>
            </a:r>
            <a:endParaRPr lang="hu-HU" sz="3200" dirty="0" smtClean="0"/>
          </a:p>
          <a:p>
            <a:pPr marL="457200" indent="-457200" algn="l">
              <a:buFont typeface="+mj-lt"/>
              <a:buAutoNum type="arabicPeriod"/>
            </a:pPr>
            <a:r>
              <a:rPr lang="hu-HU" sz="3200" dirty="0" err="1" smtClean="0"/>
              <a:t>External</a:t>
            </a:r>
            <a:r>
              <a:rPr lang="hu-HU" sz="3200" dirty="0" smtClean="0"/>
              <a:t> </a:t>
            </a:r>
            <a:r>
              <a:rPr lang="hu-HU" sz="3200" dirty="0" err="1" smtClean="0"/>
              <a:t>data</a:t>
            </a:r>
            <a:r>
              <a:rPr lang="hu-HU" sz="3200" dirty="0" smtClean="0"/>
              <a:t> (</a:t>
            </a:r>
            <a:r>
              <a:rPr lang="hu-HU" sz="3200" dirty="0" err="1" smtClean="0"/>
              <a:t>optimization</a:t>
            </a:r>
            <a:r>
              <a:rPr lang="hu-HU" sz="3200" dirty="0" smtClean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hu-HU" sz="3200" dirty="0" err="1" smtClean="0"/>
              <a:t>Model</a:t>
            </a:r>
            <a:r>
              <a:rPr lang="hu-HU" sz="3200" dirty="0" smtClean="0"/>
              <a:t> </a:t>
            </a:r>
            <a:r>
              <a:rPr lang="hu-HU" sz="3200" dirty="0" err="1" smtClean="0"/>
              <a:t>optimization</a:t>
            </a:r>
            <a:endParaRPr lang="hu-HU" sz="3200" dirty="0" smtClean="0"/>
          </a:p>
          <a:p>
            <a:pPr algn="l"/>
            <a:endParaRPr lang="hu-HU" dirty="0" smtClean="0"/>
          </a:p>
          <a:p>
            <a:pPr algn="l"/>
            <a:endParaRPr lang="hu-HU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11987996"/>
              </p:ext>
            </p:extLst>
          </p:nvPr>
        </p:nvGraphicFramePr>
        <p:xfrm>
          <a:off x="2748691" y="3319161"/>
          <a:ext cx="4846595" cy="3231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01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194486" y="1278968"/>
            <a:ext cx="9144000" cy="3490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hu-HU" sz="3200" b="1" dirty="0" smtClean="0"/>
              <a:t>1. </a:t>
            </a:r>
            <a:r>
              <a:rPr lang="hu-HU" sz="3200" b="1" dirty="0" err="1" smtClean="0"/>
              <a:t>Internal</a:t>
            </a:r>
            <a:r>
              <a:rPr lang="hu-HU" sz="3200" b="1" dirty="0" smtClean="0"/>
              <a:t> </a:t>
            </a:r>
            <a:r>
              <a:rPr lang="hu-HU" sz="3200" b="1" dirty="0" err="1" smtClean="0"/>
              <a:t>data</a:t>
            </a:r>
            <a:r>
              <a:rPr lang="hu-HU" sz="3200" b="1" dirty="0" smtClean="0"/>
              <a:t> </a:t>
            </a:r>
            <a:r>
              <a:rPr lang="hu-HU" sz="3200" b="1" dirty="0" err="1" smtClean="0"/>
              <a:t>optimization</a:t>
            </a:r>
            <a:endParaRPr lang="hu-HU" sz="3200" b="1" dirty="0" smtClean="0"/>
          </a:p>
          <a:p>
            <a:pPr algn="l"/>
            <a:endParaRPr lang="hu-HU" sz="32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3200" dirty="0" err="1" smtClean="0"/>
              <a:t>Gather</a:t>
            </a:r>
            <a:r>
              <a:rPr lang="hu-HU" sz="3200" dirty="0" smtClean="0"/>
              <a:t> more </a:t>
            </a:r>
            <a:r>
              <a:rPr lang="hu-HU" sz="3200" dirty="0" err="1" smtClean="0"/>
              <a:t>data</a:t>
            </a:r>
            <a:r>
              <a:rPr lang="hu-HU" sz="3200" dirty="0" smtClean="0"/>
              <a:t> (</a:t>
            </a:r>
            <a:r>
              <a:rPr lang="hu-HU" sz="3200" dirty="0" err="1" smtClean="0"/>
              <a:t>past</a:t>
            </a:r>
            <a:r>
              <a:rPr lang="hu-HU" sz="3200" dirty="0" smtClean="0"/>
              <a:t>, </a:t>
            </a:r>
            <a:r>
              <a:rPr lang="hu-HU" sz="3200" dirty="0" err="1" smtClean="0"/>
              <a:t>future</a:t>
            </a:r>
            <a:r>
              <a:rPr lang="hu-HU" sz="32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32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3200" dirty="0" smtClean="0"/>
              <a:t>Data </a:t>
            </a:r>
            <a:r>
              <a:rPr lang="hu-HU" sz="3200" dirty="0" err="1" smtClean="0"/>
              <a:t>enrichment</a:t>
            </a:r>
            <a:r>
              <a:rPr lang="hu-HU" sz="3200" dirty="0" smtClean="0"/>
              <a:t>: </a:t>
            </a:r>
            <a:r>
              <a:rPr lang="hu-HU" sz="3200" dirty="0" err="1" smtClean="0"/>
              <a:t>feature</a:t>
            </a:r>
            <a:r>
              <a:rPr lang="hu-HU" sz="3200" dirty="0" smtClean="0"/>
              <a:t> </a:t>
            </a:r>
            <a:r>
              <a:rPr lang="hu-HU" sz="3200" dirty="0" err="1" smtClean="0"/>
              <a:t>engineering</a:t>
            </a:r>
            <a:r>
              <a:rPr lang="hu-HU" sz="3200" dirty="0" smtClean="0"/>
              <a:t>, </a:t>
            </a:r>
            <a:r>
              <a:rPr lang="hu-HU" sz="3200" dirty="0" err="1" smtClean="0"/>
              <a:t>imputation</a:t>
            </a:r>
            <a:r>
              <a:rPr lang="hu-HU" sz="3200" dirty="0" smtClean="0"/>
              <a:t>, </a:t>
            </a:r>
            <a:r>
              <a:rPr lang="hu-HU" sz="3200" dirty="0" err="1" smtClean="0"/>
              <a:t>supervised-</a:t>
            </a:r>
            <a:r>
              <a:rPr lang="hu-HU" sz="3200" dirty="0" smtClean="0"/>
              <a:t> and </a:t>
            </a:r>
            <a:r>
              <a:rPr lang="hu-HU" sz="3200" dirty="0" err="1" smtClean="0"/>
              <a:t>unsupervised</a:t>
            </a:r>
            <a:r>
              <a:rPr lang="hu-HU" sz="3200" dirty="0" smtClean="0"/>
              <a:t> modelling</a:t>
            </a:r>
          </a:p>
          <a:p>
            <a:pPr algn="l"/>
            <a:endParaRPr lang="hu-HU" sz="32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3200" dirty="0" smtClean="0"/>
          </a:p>
          <a:p>
            <a:pPr algn="l"/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274060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3490740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2. </a:t>
            </a:r>
            <a:r>
              <a:rPr lang="hu-HU" sz="2800" b="1" dirty="0" err="1" smtClean="0"/>
              <a:t>External</a:t>
            </a:r>
            <a:r>
              <a:rPr lang="hu-HU" sz="2800" b="1" dirty="0" smtClean="0"/>
              <a:t> </a:t>
            </a:r>
            <a:r>
              <a:rPr lang="hu-HU" sz="2800" b="1" dirty="0" err="1" smtClean="0"/>
              <a:t>data</a:t>
            </a:r>
            <a:r>
              <a:rPr lang="hu-HU" sz="2800" b="1" dirty="0" smtClean="0"/>
              <a:t> </a:t>
            </a:r>
            <a:r>
              <a:rPr lang="hu-HU" sz="2800" b="1" dirty="0" err="1" smtClean="0"/>
              <a:t>optimization</a:t>
            </a:r>
            <a:endParaRPr lang="hu-HU" sz="2800" b="1" dirty="0" smtClean="0"/>
          </a:p>
          <a:p>
            <a:pPr algn="l"/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800" dirty="0" err="1" smtClean="0"/>
              <a:t>Gather</a:t>
            </a:r>
            <a:r>
              <a:rPr lang="hu-HU" sz="2800" dirty="0" smtClean="0"/>
              <a:t> more </a:t>
            </a:r>
            <a:r>
              <a:rPr lang="hu-HU" sz="2800" dirty="0" err="1" smtClean="0"/>
              <a:t>data</a:t>
            </a:r>
            <a:r>
              <a:rPr lang="hu-HU" sz="2800" dirty="0" smtClean="0"/>
              <a:t> (</a:t>
            </a:r>
            <a:r>
              <a:rPr lang="hu-HU" sz="2800" dirty="0" err="1" smtClean="0"/>
              <a:t>similar</a:t>
            </a:r>
            <a:r>
              <a:rPr lang="hu-HU" sz="2800" dirty="0" smtClean="0"/>
              <a:t> </a:t>
            </a:r>
            <a:r>
              <a:rPr lang="hu-HU" sz="2800" dirty="0" err="1" smtClean="0"/>
              <a:t>to</a:t>
            </a:r>
            <a:r>
              <a:rPr lang="hu-HU" sz="2800" dirty="0" smtClean="0"/>
              <a:t> </a:t>
            </a:r>
            <a:r>
              <a:rPr lang="hu-HU" sz="2800" dirty="0" err="1" smtClean="0"/>
              <a:t>internal</a:t>
            </a:r>
            <a:r>
              <a:rPr lang="hu-HU" sz="2800" dirty="0" smtClean="0"/>
              <a:t>), </a:t>
            </a:r>
            <a:r>
              <a:rPr lang="hu-HU" sz="2800" dirty="0" err="1" smtClean="0"/>
              <a:t>webscraping</a:t>
            </a:r>
            <a:r>
              <a:rPr lang="hu-HU" sz="2800" dirty="0" smtClean="0"/>
              <a:t>, API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800" dirty="0" smtClean="0"/>
              <a:t>Free </a:t>
            </a:r>
            <a:r>
              <a:rPr lang="hu-HU" sz="2800" dirty="0" err="1" smtClean="0"/>
              <a:t>but</a:t>
            </a:r>
            <a:r>
              <a:rPr lang="hu-HU" sz="2800" dirty="0" smtClean="0"/>
              <a:t> </a:t>
            </a:r>
            <a:r>
              <a:rPr lang="hu-HU" sz="2800" dirty="0" err="1" smtClean="0"/>
              <a:t>raw</a:t>
            </a:r>
            <a:r>
              <a:rPr lang="hu-HU" sz="2800" dirty="0" smtClean="0"/>
              <a:t> </a:t>
            </a:r>
            <a:r>
              <a:rPr lang="hu-HU" sz="2800" dirty="0" err="1" smtClean="0"/>
              <a:t>sources</a:t>
            </a:r>
            <a:r>
              <a:rPr lang="hu-HU" sz="2800" dirty="0"/>
              <a:t>:</a:t>
            </a:r>
            <a:r>
              <a:rPr lang="hu-HU" sz="2800" dirty="0" smtClean="0"/>
              <a:t> </a:t>
            </a:r>
            <a:r>
              <a:rPr lang="hu-HU" sz="2800" dirty="0" err="1" smtClean="0"/>
              <a:t>social</a:t>
            </a:r>
            <a:r>
              <a:rPr lang="hu-HU" sz="2800" dirty="0" smtClean="0"/>
              <a:t> </a:t>
            </a:r>
            <a:r>
              <a:rPr lang="hu-HU" sz="2800" dirty="0" err="1" smtClean="0"/>
              <a:t>media</a:t>
            </a:r>
            <a:r>
              <a:rPr lang="hu-HU" sz="2800" dirty="0" smtClean="0"/>
              <a:t>, </a:t>
            </a:r>
            <a:r>
              <a:rPr lang="hu-HU" sz="2800" dirty="0" err="1" smtClean="0"/>
              <a:t>forums</a:t>
            </a:r>
            <a:r>
              <a:rPr lang="hu-HU" sz="2800" dirty="0" smtClean="0"/>
              <a:t>, </a:t>
            </a:r>
            <a:r>
              <a:rPr lang="hu-HU" sz="2800" dirty="0" err="1" smtClean="0"/>
              <a:t>message</a:t>
            </a:r>
            <a:r>
              <a:rPr lang="hu-HU" sz="2800" dirty="0" smtClean="0"/>
              <a:t> </a:t>
            </a:r>
            <a:r>
              <a:rPr lang="hu-HU" sz="2800" dirty="0" err="1" smtClean="0"/>
              <a:t>boards</a:t>
            </a:r>
            <a:r>
              <a:rPr lang="hu-HU" sz="2800" dirty="0" smtClean="0"/>
              <a:t>, </a:t>
            </a:r>
            <a:r>
              <a:rPr lang="hu-HU" sz="2800" dirty="0" err="1" smtClean="0"/>
              <a:t>etc</a:t>
            </a:r>
            <a:r>
              <a:rPr lang="hu-HU" sz="2800" dirty="0" smtClean="0"/>
              <a:t> -&gt; NLP </a:t>
            </a:r>
            <a:r>
              <a:rPr lang="hu-HU" sz="2800" dirty="0" err="1" smtClean="0"/>
              <a:t>technologies</a:t>
            </a: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2800" dirty="0" err="1" smtClean="0"/>
              <a:t>Buy</a:t>
            </a:r>
            <a:r>
              <a:rPr lang="hu-HU" sz="2800" dirty="0" smtClean="0"/>
              <a:t> </a:t>
            </a:r>
            <a:r>
              <a:rPr lang="hu-HU" sz="2800" dirty="0" err="1" smtClean="0"/>
              <a:t>new</a:t>
            </a:r>
            <a:r>
              <a:rPr lang="hu-HU" sz="2800" dirty="0" smtClean="0"/>
              <a:t> </a:t>
            </a:r>
            <a:r>
              <a:rPr lang="hu-HU" sz="2800" dirty="0" err="1" smtClean="0"/>
              <a:t>datasets</a:t>
            </a:r>
            <a:r>
              <a:rPr lang="hu-HU" sz="2800" dirty="0" smtClean="0"/>
              <a:t> (API)</a:t>
            </a:r>
          </a:p>
          <a:p>
            <a:pPr algn="l"/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 smtClean="0"/>
          </a:p>
          <a:p>
            <a:pPr algn="l"/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71057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64973" y="323378"/>
            <a:ext cx="9144000" cy="6275129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hu-HU" sz="7000" b="1" dirty="0" smtClean="0"/>
              <a:t>3. </a:t>
            </a:r>
            <a:r>
              <a:rPr lang="hu-HU" sz="7000" b="1" dirty="0" err="1" smtClean="0"/>
              <a:t>Model</a:t>
            </a:r>
            <a:r>
              <a:rPr lang="hu-HU" sz="7000" b="1" dirty="0" smtClean="0"/>
              <a:t> </a:t>
            </a:r>
            <a:r>
              <a:rPr lang="hu-HU" sz="7000" b="1" dirty="0" err="1" smtClean="0"/>
              <a:t>optimization</a:t>
            </a:r>
            <a:endParaRPr lang="hu-HU" sz="7000" b="1" dirty="0" smtClean="0"/>
          </a:p>
          <a:p>
            <a:pPr algn="l"/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6700" dirty="0" err="1" smtClean="0"/>
              <a:t>Content-based</a:t>
            </a:r>
            <a:r>
              <a:rPr lang="hu-HU" sz="6700" dirty="0" smtClean="0"/>
              <a:t> </a:t>
            </a:r>
            <a:r>
              <a:rPr lang="hu-HU" sz="6700" dirty="0" err="1" smtClean="0"/>
              <a:t>filtering</a:t>
            </a:r>
            <a:r>
              <a:rPr lang="hu-HU" sz="6700" dirty="0" smtClean="0"/>
              <a:t> (</a:t>
            </a:r>
            <a:r>
              <a:rPr lang="hu-HU" sz="6700" dirty="0" err="1" smtClean="0"/>
              <a:t>similar</a:t>
            </a:r>
            <a:r>
              <a:rPr lang="hu-HU" sz="6700" dirty="0" smtClean="0"/>
              <a:t> </a:t>
            </a:r>
            <a:r>
              <a:rPr lang="hu-HU" sz="6700" dirty="0" err="1" smtClean="0"/>
              <a:t>items</a:t>
            </a:r>
            <a:r>
              <a:rPr lang="hu-HU" sz="67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6700" dirty="0" err="1" smtClean="0"/>
              <a:t>Collaborative</a:t>
            </a:r>
            <a:r>
              <a:rPr lang="hu-HU" sz="6700" dirty="0" smtClean="0"/>
              <a:t> </a:t>
            </a:r>
            <a:r>
              <a:rPr lang="hu-HU" sz="6700" dirty="0" err="1" smtClean="0"/>
              <a:t>filtering</a:t>
            </a:r>
            <a:r>
              <a:rPr lang="hu-HU" sz="6700" dirty="0" smtClean="0"/>
              <a:t> (</a:t>
            </a:r>
            <a:r>
              <a:rPr lang="hu-HU" sz="6700" dirty="0" err="1" smtClean="0"/>
              <a:t>similar</a:t>
            </a:r>
            <a:r>
              <a:rPr lang="hu-HU" sz="6700" dirty="0"/>
              <a:t> </a:t>
            </a:r>
            <a:r>
              <a:rPr lang="hu-HU" sz="6700" dirty="0" err="1" smtClean="0"/>
              <a:t>users</a:t>
            </a:r>
            <a:r>
              <a:rPr lang="hu-HU" sz="67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6700" dirty="0" err="1" smtClean="0"/>
              <a:t>Item</a:t>
            </a:r>
            <a:r>
              <a:rPr lang="hu-HU" sz="6700" dirty="0" smtClean="0"/>
              <a:t> </a:t>
            </a:r>
            <a:r>
              <a:rPr lang="hu-HU" sz="6700" dirty="0" err="1" smtClean="0"/>
              <a:t>based</a:t>
            </a:r>
            <a:r>
              <a:rPr lang="hu-HU" sz="6700" dirty="0" smtClean="0"/>
              <a:t> </a:t>
            </a:r>
            <a:r>
              <a:rPr lang="hu-HU" sz="6700" dirty="0" err="1" smtClean="0"/>
              <a:t>collaborative</a:t>
            </a:r>
            <a:r>
              <a:rPr lang="hu-HU" sz="6700" dirty="0" smtClean="0"/>
              <a:t> </a:t>
            </a:r>
            <a:r>
              <a:rPr lang="hu-HU" sz="6700" dirty="0" err="1" smtClean="0"/>
              <a:t>filtering</a:t>
            </a:r>
            <a:r>
              <a:rPr lang="hu-HU" sz="6700" dirty="0" smtClean="0"/>
              <a:t> ( </a:t>
            </a:r>
            <a:r>
              <a:rPr lang="hu-HU" sz="6700" dirty="0" err="1" smtClean="0"/>
              <a:t>users</a:t>
            </a:r>
            <a:r>
              <a:rPr lang="hu-HU" sz="6700" dirty="0" smtClean="0"/>
              <a:t> </a:t>
            </a:r>
            <a:r>
              <a:rPr lang="hu-HU" sz="6700" dirty="0" err="1" smtClean="0"/>
              <a:t>rated</a:t>
            </a:r>
            <a:r>
              <a:rPr lang="hu-HU" sz="6700" dirty="0" smtClean="0"/>
              <a:t> </a:t>
            </a:r>
            <a:r>
              <a:rPr lang="hu-HU" sz="6700" dirty="0" err="1" smtClean="0"/>
              <a:t>similar</a:t>
            </a:r>
            <a:r>
              <a:rPr lang="hu-HU" sz="6700" dirty="0" smtClean="0"/>
              <a:t> </a:t>
            </a:r>
            <a:r>
              <a:rPr lang="hu-HU" sz="6700" dirty="0" err="1" smtClean="0"/>
              <a:t>items</a:t>
            </a:r>
            <a:r>
              <a:rPr lang="hu-HU" sz="67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6700" dirty="0" err="1" smtClean="0"/>
              <a:t>Hybrid</a:t>
            </a:r>
            <a:r>
              <a:rPr lang="hu-HU" sz="6700" dirty="0" smtClean="0"/>
              <a:t> </a:t>
            </a:r>
            <a:r>
              <a:rPr lang="hu-HU" sz="6700" dirty="0" err="1" smtClean="0"/>
              <a:t>models</a:t>
            </a: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6700" dirty="0" err="1" smtClean="0"/>
              <a:t>Model</a:t>
            </a:r>
            <a:r>
              <a:rPr lang="hu-HU" sz="6700" dirty="0" smtClean="0"/>
              <a:t> </a:t>
            </a:r>
            <a:r>
              <a:rPr lang="hu-HU" sz="6700" dirty="0" err="1" smtClean="0"/>
              <a:t>complexity</a:t>
            </a:r>
            <a:r>
              <a:rPr lang="hu-HU" sz="6700" dirty="0" smtClean="0"/>
              <a:t>: </a:t>
            </a:r>
            <a:r>
              <a:rPr lang="hu-HU" sz="6700" dirty="0" err="1" smtClean="0"/>
              <a:t>ensemble</a:t>
            </a:r>
            <a:r>
              <a:rPr lang="hu-HU" sz="6700" dirty="0" smtClean="0"/>
              <a:t> </a:t>
            </a:r>
            <a:r>
              <a:rPr lang="hu-HU" sz="6700" dirty="0" err="1" smtClean="0"/>
              <a:t>models</a:t>
            </a:r>
            <a:r>
              <a:rPr lang="hu-HU" sz="6700" dirty="0" smtClean="0"/>
              <a:t>,NLP, computer </a:t>
            </a:r>
            <a:r>
              <a:rPr lang="hu-HU" sz="6700" dirty="0" err="1" smtClean="0"/>
              <a:t>vision</a:t>
            </a:r>
            <a:r>
              <a:rPr lang="hu-HU" sz="6700" dirty="0" smtClean="0"/>
              <a:t>,</a:t>
            </a:r>
            <a:r>
              <a:rPr lang="hu-HU" sz="6700" dirty="0" err="1" smtClean="0"/>
              <a:t>deep</a:t>
            </a:r>
            <a:r>
              <a:rPr lang="hu-HU" sz="6700" dirty="0" smtClean="0"/>
              <a:t> </a:t>
            </a:r>
            <a:r>
              <a:rPr lang="hu-HU" sz="6700" dirty="0" err="1" smtClean="0"/>
              <a:t>learning</a:t>
            </a:r>
            <a:r>
              <a:rPr lang="hu-HU" sz="6700" dirty="0" smtClean="0"/>
              <a:t> </a:t>
            </a:r>
            <a:r>
              <a:rPr lang="hu-HU" sz="6700" dirty="0" err="1" smtClean="0"/>
              <a:t>models</a:t>
            </a:r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dirty="0" smtClean="0"/>
          </a:p>
          <a:p>
            <a:pPr algn="l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5732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81449" y="224524"/>
            <a:ext cx="9144000" cy="6275129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hu-HU" sz="7000" b="1" dirty="0" err="1" smtClean="0"/>
              <a:t>Challenges</a:t>
            </a:r>
            <a:endParaRPr lang="hu-HU" sz="7000" b="1" dirty="0" smtClean="0"/>
          </a:p>
          <a:p>
            <a:pPr algn="l"/>
            <a:endParaRPr lang="hu-HU" sz="67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Cold</a:t>
            </a:r>
            <a:r>
              <a:rPr lang="hu-HU" sz="5100" dirty="0" smtClean="0"/>
              <a:t> start </a:t>
            </a:r>
            <a:r>
              <a:rPr lang="hu-HU" sz="5100" dirty="0" err="1" smtClean="0"/>
              <a:t>problem</a:t>
            </a:r>
            <a:r>
              <a:rPr lang="hu-HU" sz="5100" dirty="0" smtClean="0"/>
              <a:t> (</a:t>
            </a:r>
            <a:r>
              <a:rPr lang="hu-HU" sz="5100" dirty="0" err="1" smtClean="0"/>
              <a:t>heuristics</a:t>
            </a:r>
            <a:r>
              <a:rPr lang="hu-HU" sz="5100" dirty="0" smtClean="0"/>
              <a:t>: </a:t>
            </a:r>
            <a:r>
              <a:rPr lang="hu-HU" sz="5100" dirty="0" err="1" smtClean="0"/>
              <a:t>guest</a:t>
            </a:r>
            <a:r>
              <a:rPr lang="hu-HU" sz="5100" dirty="0" smtClean="0"/>
              <a:t> </a:t>
            </a:r>
            <a:r>
              <a:rPr lang="hu-HU" sz="5100" dirty="0" err="1" smtClean="0"/>
              <a:t>type</a:t>
            </a:r>
            <a:r>
              <a:rPr lang="hu-HU" sz="5100" dirty="0" smtClean="0"/>
              <a:t>, </a:t>
            </a:r>
            <a:r>
              <a:rPr lang="hu-HU" sz="5100" dirty="0" err="1" smtClean="0"/>
              <a:t>rule-based</a:t>
            </a:r>
            <a:r>
              <a:rPr lang="hu-HU" sz="5100" dirty="0" smtClean="0"/>
              <a:t> </a:t>
            </a:r>
            <a:r>
              <a:rPr lang="hu-HU" sz="5100" dirty="0" err="1" smtClean="0"/>
              <a:t>similarity</a:t>
            </a:r>
            <a:r>
              <a:rPr lang="hu-HU" sz="51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Scalability</a:t>
            </a:r>
            <a:r>
              <a:rPr lang="hu-HU" sz="5100" dirty="0" smtClean="0"/>
              <a:t> (</a:t>
            </a:r>
            <a:r>
              <a:rPr lang="hu-HU" sz="5100" dirty="0" err="1" smtClean="0"/>
              <a:t>sampling</a:t>
            </a:r>
            <a:r>
              <a:rPr lang="hu-HU" sz="5100" dirty="0" smtClean="0"/>
              <a:t>, </a:t>
            </a:r>
            <a:r>
              <a:rPr lang="hu-HU" sz="5100" dirty="0" err="1" smtClean="0"/>
              <a:t>leveraging</a:t>
            </a:r>
            <a:r>
              <a:rPr lang="hu-HU" sz="5100" dirty="0" smtClean="0"/>
              <a:t> </a:t>
            </a:r>
            <a:r>
              <a:rPr lang="hu-HU" sz="5100" dirty="0" err="1" smtClean="0"/>
              <a:t>sparsity</a:t>
            </a:r>
            <a:r>
              <a:rPr lang="hu-HU" sz="5100" dirty="0" smtClean="0"/>
              <a:t>, </a:t>
            </a:r>
            <a:r>
              <a:rPr lang="hu-HU" sz="5100" dirty="0" err="1" smtClean="0"/>
              <a:t>multi-phase</a:t>
            </a:r>
            <a:r>
              <a:rPr lang="hu-HU" sz="5100" dirty="0" smtClean="0"/>
              <a:t> modelling)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Interpretability</a:t>
            </a:r>
            <a:r>
              <a:rPr lang="hu-HU" sz="5100" dirty="0" smtClean="0"/>
              <a:t> (</a:t>
            </a:r>
            <a:r>
              <a:rPr lang="hu-HU" sz="5100" dirty="0" err="1" smtClean="0"/>
              <a:t>dimensionality</a:t>
            </a:r>
            <a:r>
              <a:rPr lang="hu-HU" sz="5100" dirty="0" smtClean="0"/>
              <a:t> </a:t>
            </a:r>
            <a:r>
              <a:rPr lang="hu-HU" sz="5100" dirty="0" err="1" smtClean="0"/>
              <a:t>reduction</a:t>
            </a:r>
            <a:r>
              <a:rPr lang="hu-HU" sz="5100" dirty="0" smtClean="0"/>
              <a:t>, </a:t>
            </a:r>
            <a:r>
              <a:rPr lang="hu-HU" sz="5100" dirty="0" err="1" smtClean="0"/>
              <a:t>visualization</a:t>
            </a:r>
            <a:r>
              <a:rPr lang="hu-HU" sz="51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Exploitation</a:t>
            </a:r>
            <a:r>
              <a:rPr lang="hu-HU" sz="5100" dirty="0" smtClean="0"/>
              <a:t> </a:t>
            </a:r>
            <a:r>
              <a:rPr lang="hu-HU" sz="5100" dirty="0" err="1" smtClean="0"/>
              <a:t>vs</a:t>
            </a:r>
            <a:r>
              <a:rPr lang="hu-HU" sz="5100" dirty="0" smtClean="0"/>
              <a:t> </a:t>
            </a:r>
            <a:r>
              <a:rPr lang="hu-HU" sz="5100" dirty="0" err="1" smtClean="0"/>
              <a:t>exploration</a:t>
            </a:r>
            <a:r>
              <a:rPr lang="hu-HU" sz="5100" dirty="0" smtClean="0"/>
              <a:t> (</a:t>
            </a:r>
            <a:r>
              <a:rPr lang="hu-HU" sz="5100" dirty="0" err="1" smtClean="0"/>
              <a:t>avoiding</a:t>
            </a:r>
            <a:r>
              <a:rPr lang="hu-HU" sz="5100" dirty="0" smtClean="0"/>
              <a:t> </a:t>
            </a:r>
            <a:r>
              <a:rPr lang="hu-HU" sz="5100" dirty="0" err="1" smtClean="0"/>
              <a:t>getting</a:t>
            </a:r>
            <a:r>
              <a:rPr lang="hu-HU" sz="5100" dirty="0" smtClean="0"/>
              <a:t> </a:t>
            </a:r>
            <a:r>
              <a:rPr lang="hu-HU" sz="5100" dirty="0" err="1" smtClean="0"/>
              <a:t>stucked</a:t>
            </a:r>
            <a:r>
              <a:rPr lang="hu-HU" sz="5100" dirty="0" smtClean="0"/>
              <a:t> </a:t>
            </a:r>
            <a:r>
              <a:rPr lang="hu-HU" sz="5100" dirty="0" err="1" smtClean="0"/>
              <a:t>in</a:t>
            </a:r>
            <a:r>
              <a:rPr lang="hu-HU" sz="5100" dirty="0" smtClean="0"/>
              <a:t> a local </a:t>
            </a:r>
            <a:r>
              <a:rPr lang="hu-HU" sz="5100" dirty="0" err="1" smtClean="0"/>
              <a:t>minima</a:t>
            </a:r>
            <a:r>
              <a:rPr lang="hu-HU" sz="5100" dirty="0" smtClean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Hybrid</a:t>
            </a:r>
            <a:r>
              <a:rPr lang="hu-HU" sz="5100" dirty="0" smtClean="0"/>
              <a:t> </a:t>
            </a:r>
            <a:r>
              <a:rPr lang="hu-HU" sz="5100" dirty="0" err="1" smtClean="0"/>
              <a:t>models</a:t>
            </a: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sz="5100" dirty="0" err="1" smtClean="0"/>
              <a:t>Model</a:t>
            </a:r>
            <a:r>
              <a:rPr lang="hu-HU" sz="5100" dirty="0" smtClean="0"/>
              <a:t> </a:t>
            </a:r>
            <a:r>
              <a:rPr lang="hu-HU" sz="5100" dirty="0" err="1" smtClean="0"/>
              <a:t>complexity</a:t>
            </a:r>
            <a:r>
              <a:rPr lang="hu-HU" sz="5100" dirty="0" smtClean="0"/>
              <a:t>: </a:t>
            </a:r>
            <a:r>
              <a:rPr lang="hu-HU" sz="5100" dirty="0" err="1" smtClean="0"/>
              <a:t>ensemble</a:t>
            </a:r>
            <a:r>
              <a:rPr lang="hu-HU" sz="5100" dirty="0" smtClean="0"/>
              <a:t> </a:t>
            </a:r>
            <a:r>
              <a:rPr lang="hu-HU" sz="5100" dirty="0" err="1" smtClean="0"/>
              <a:t>models</a:t>
            </a:r>
            <a:r>
              <a:rPr lang="hu-HU" sz="5100" dirty="0" smtClean="0"/>
              <a:t>,NLP, computer </a:t>
            </a:r>
            <a:r>
              <a:rPr lang="hu-HU" sz="5100" dirty="0" err="1" smtClean="0"/>
              <a:t>vision</a:t>
            </a:r>
            <a:r>
              <a:rPr lang="hu-HU" sz="5100" dirty="0" smtClean="0"/>
              <a:t>,</a:t>
            </a:r>
            <a:r>
              <a:rPr lang="hu-HU" sz="5100" dirty="0" err="1" smtClean="0"/>
              <a:t>deep</a:t>
            </a:r>
            <a:r>
              <a:rPr lang="hu-HU" sz="5100" dirty="0" smtClean="0"/>
              <a:t> </a:t>
            </a:r>
            <a:r>
              <a:rPr lang="hu-HU" sz="5100" dirty="0" err="1" smtClean="0"/>
              <a:t>learning</a:t>
            </a:r>
            <a:r>
              <a:rPr lang="hu-HU" sz="5100" dirty="0" smtClean="0"/>
              <a:t> </a:t>
            </a:r>
            <a:r>
              <a:rPr lang="hu-HU" sz="5100" dirty="0" err="1" smtClean="0"/>
              <a:t>models</a:t>
            </a: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51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dirty="0" smtClean="0"/>
          </a:p>
          <a:p>
            <a:pPr algn="l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1748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Q1. </a:t>
            </a:r>
            <a:r>
              <a:rPr lang="en-US" sz="2800" b="1" dirty="0" smtClean="0"/>
              <a:t>What </a:t>
            </a:r>
            <a:r>
              <a:rPr lang="en-US" sz="2800" b="1" dirty="0"/>
              <a:t>data would you want access to?</a:t>
            </a:r>
            <a:endParaRPr lang="hu-HU" sz="2800" dirty="0" smtClean="0"/>
          </a:p>
          <a:p>
            <a:pPr algn="l"/>
            <a:endParaRPr lang="hu-HU" sz="2800" dirty="0" smtClean="0"/>
          </a:p>
          <a:p>
            <a:pPr algn="l"/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704334" y="1258374"/>
            <a:ext cx="9333471" cy="34907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What</a:t>
            </a:r>
            <a:r>
              <a:rPr lang="hu-HU" sz="2000" dirty="0" smtClean="0"/>
              <a:t> is </a:t>
            </a:r>
            <a:r>
              <a:rPr lang="hu-HU" sz="2000" dirty="0" err="1" smtClean="0"/>
              <a:t>available</a:t>
            </a:r>
            <a:r>
              <a:rPr lang="hu-HU" sz="2000" dirty="0" smtClean="0"/>
              <a:t> </a:t>
            </a:r>
            <a:r>
              <a:rPr lang="hu-HU" sz="2000" dirty="0" err="1" smtClean="0"/>
              <a:t>now</a:t>
            </a:r>
            <a:r>
              <a:rPr lang="hu-HU" sz="2000" dirty="0" smtClean="0"/>
              <a:t>?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What</a:t>
            </a:r>
            <a:r>
              <a:rPr lang="hu-HU" sz="2000" dirty="0" smtClean="0"/>
              <a:t> </a:t>
            </a:r>
            <a:r>
              <a:rPr lang="hu-HU" sz="2000" dirty="0" err="1" smtClean="0"/>
              <a:t>constraints</a:t>
            </a:r>
            <a:r>
              <a:rPr lang="hu-HU" sz="2000" dirty="0" smtClean="0"/>
              <a:t> </a:t>
            </a:r>
            <a:r>
              <a:rPr lang="hu-HU" sz="2000" dirty="0" err="1" smtClean="0"/>
              <a:t>do</a:t>
            </a:r>
            <a:r>
              <a:rPr lang="hu-HU" sz="2000" dirty="0" smtClean="0"/>
              <a:t> </a:t>
            </a:r>
            <a:r>
              <a:rPr lang="hu-HU" sz="2000" dirty="0" err="1" smtClean="0"/>
              <a:t>we</a:t>
            </a:r>
            <a:r>
              <a:rPr lang="hu-HU" sz="2000" dirty="0" smtClean="0"/>
              <a:t> </a:t>
            </a:r>
            <a:r>
              <a:rPr lang="hu-HU" sz="2000" dirty="0" err="1" smtClean="0"/>
              <a:t>have</a:t>
            </a:r>
            <a:r>
              <a:rPr lang="hu-HU" sz="2000" dirty="0" smtClean="0"/>
              <a:t>? </a:t>
            </a:r>
            <a:r>
              <a:rPr lang="hu-HU" sz="2000" dirty="0" err="1" smtClean="0"/>
              <a:t>What</a:t>
            </a:r>
            <a:r>
              <a:rPr lang="hu-HU" sz="2000" dirty="0" smtClean="0"/>
              <a:t> </a:t>
            </a:r>
            <a:r>
              <a:rPr lang="hu-HU" sz="2000" dirty="0" err="1" smtClean="0"/>
              <a:t>are</a:t>
            </a:r>
            <a:r>
              <a:rPr lang="hu-HU" sz="2000" dirty="0" smtClean="0"/>
              <a:t> </a:t>
            </a:r>
            <a:r>
              <a:rPr lang="hu-HU" sz="2000" dirty="0" err="1" smtClean="0"/>
              <a:t>the</a:t>
            </a:r>
            <a:r>
              <a:rPr lang="hu-HU" sz="2000" dirty="0" smtClean="0"/>
              <a:t> </a:t>
            </a:r>
            <a:r>
              <a:rPr lang="hu-HU" sz="2000" dirty="0" err="1" smtClean="0"/>
              <a:t>priorities</a:t>
            </a:r>
            <a:r>
              <a:rPr lang="hu-HU" sz="2000" dirty="0" smtClean="0"/>
              <a:t>?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Constraints</a:t>
            </a:r>
            <a:r>
              <a:rPr lang="hu-HU" sz="2000" dirty="0" smtClean="0"/>
              <a:t>: </a:t>
            </a:r>
            <a:r>
              <a:rPr lang="hu-HU" sz="2000" dirty="0" err="1" smtClean="0"/>
              <a:t>budget</a:t>
            </a:r>
            <a:r>
              <a:rPr lang="hu-HU" sz="2000" dirty="0" smtClean="0"/>
              <a:t>, </a:t>
            </a:r>
            <a:r>
              <a:rPr lang="hu-HU" sz="2000" dirty="0" err="1" smtClean="0"/>
              <a:t>time</a:t>
            </a:r>
            <a:r>
              <a:rPr lang="hu-HU" sz="2000" dirty="0" smtClean="0"/>
              <a:t>, computer/</a:t>
            </a:r>
            <a:r>
              <a:rPr lang="hu-HU" sz="2000" dirty="0" err="1" smtClean="0"/>
              <a:t>memory</a:t>
            </a:r>
            <a:r>
              <a:rPr lang="hu-HU" sz="2000" dirty="0" smtClean="0"/>
              <a:t> </a:t>
            </a:r>
            <a:r>
              <a:rPr lang="hu-HU" sz="2000" dirty="0" err="1" smtClean="0"/>
              <a:t>resource</a:t>
            </a:r>
            <a:r>
              <a:rPr lang="hu-HU" sz="2000" dirty="0" smtClean="0"/>
              <a:t>, </a:t>
            </a:r>
            <a:r>
              <a:rPr lang="hu-HU" sz="2000" dirty="0" err="1" smtClean="0"/>
              <a:t>manpower</a:t>
            </a:r>
            <a:r>
              <a:rPr lang="hu-HU" sz="2000" dirty="0" smtClean="0"/>
              <a:t>, </a:t>
            </a:r>
            <a:r>
              <a:rPr lang="hu-HU" sz="2000" dirty="0" err="1" smtClean="0"/>
              <a:t>etc</a:t>
            </a:r>
            <a:endParaRPr lang="hu-HU" sz="2000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Priorities</a:t>
            </a:r>
            <a:r>
              <a:rPr lang="hu-HU" sz="2000" dirty="0" smtClean="0"/>
              <a:t>: </a:t>
            </a:r>
            <a:r>
              <a:rPr lang="hu-HU" sz="2000" dirty="0" err="1" smtClean="0"/>
              <a:t>time</a:t>
            </a:r>
            <a:r>
              <a:rPr lang="hu-HU" sz="2000" dirty="0" smtClean="0"/>
              <a:t>, </a:t>
            </a:r>
            <a:r>
              <a:rPr lang="hu-HU" sz="2000" dirty="0" err="1" smtClean="0"/>
              <a:t>cost-efficient</a:t>
            </a:r>
            <a:r>
              <a:rPr lang="hu-HU" sz="2000" dirty="0" smtClean="0"/>
              <a:t>, </a:t>
            </a:r>
            <a:r>
              <a:rPr lang="hu-HU" sz="2000" dirty="0" err="1" smtClean="0"/>
              <a:t>etc</a:t>
            </a:r>
            <a:r>
              <a:rPr lang="hu-HU" sz="2000" dirty="0" smtClean="0"/>
              <a:t> 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There’s</a:t>
            </a:r>
            <a:r>
              <a:rPr lang="hu-HU" sz="2000" dirty="0" smtClean="0"/>
              <a:t> </a:t>
            </a:r>
            <a:r>
              <a:rPr lang="hu-HU" sz="2000" dirty="0" err="1" smtClean="0"/>
              <a:t>always</a:t>
            </a:r>
            <a:r>
              <a:rPr lang="hu-HU" sz="2000" dirty="0" smtClean="0"/>
              <a:t> a </a:t>
            </a:r>
            <a:r>
              <a:rPr lang="hu-HU" sz="2000" dirty="0" err="1" smtClean="0"/>
              <a:t>trade-off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Generally</a:t>
            </a:r>
            <a:r>
              <a:rPr lang="hu-HU" sz="2000" dirty="0" smtClean="0"/>
              <a:t>: </a:t>
            </a:r>
            <a:r>
              <a:rPr lang="hu-HU" sz="2000" dirty="0" err="1" smtClean="0"/>
              <a:t>internal</a:t>
            </a:r>
            <a:r>
              <a:rPr lang="hu-HU" sz="2000" dirty="0" smtClean="0"/>
              <a:t> </a:t>
            </a:r>
            <a:r>
              <a:rPr lang="hu-HU" sz="2000" dirty="0" err="1" smtClean="0"/>
              <a:t>data</a:t>
            </a:r>
            <a:r>
              <a:rPr lang="hu-HU" sz="2000" dirty="0" smtClean="0"/>
              <a:t> </a:t>
            </a:r>
            <a:r>
              <a:rPr lang="hu-HU" sz="2000" dirty="0" err="1" smtClean="0"/>
              <a:t>enrichment</a:t>
            </a:r>
            <a:r>
              <a:rPr lang="hu-HU" sz="2000" dirty="0" smtClean="0"/>
              <a:t> + </a:t>
            </a:r>
            <a:r>
              <a:rPr lang="hu-HU" sz="2000" dirty="0" err="1" smtClean="0"/>
              <a:t>freely</a:t>
            </a:r>
            <a:r>
              <a:rPr lang="hu-HU" sz="2000" dirty="0" smtClean="0"/>
              <a:t> </a:t>
            </a:r>
            <a:r>
              <a:rPr lang="hu-HU" sz="2000" dirty="0" err="1" smtClean="0"/>
              <a:t>available</a:t>
            </a:r>
            <a:r>
              <a:rPr lang="hu-HU" sz="2000" dirty="0" smtClean="0"/>
              <a:t> </a:t>
            </a:r>
            <a:r>
              <a:rPr lang="hu-HU" sz="2000" dirty="0" err="1" smtClean="0"/>
              <a:t>external</a:t>
            </a:r>
            <a:r>
              <a:rPr lang="hu-HU" sz="2000" dirty="0" smtClean="0"/>
              <a:t> </a:t>
            </a:r>
            <a:r>
              <a:rPr lang="hu-HU" sz="2000" dirty="0" err="1" smtClean="0"/>
              <a:t>data</a:t>
            </a:r>
            <a:r>
              <a:rPr lang="hu-HU" sz="2000" dirty="0" smtClean="0"/>
              <a:t> + </a:t>
            </a:r>
            <a:r>
              <a:rPr lang="hu-HU" sz="2000" dirty="0" err="1" smtClean="0"/>
              <a:t>model</a:t>
            </a:r>
            <a:r>
              <a:rPr lang="hu-HU" sz="2000" dirty="0" smtClean="0"/>
              <a:t> </a:t>
            </a:r>
            <a:r>
              <a:rPr lang="hu-HU" sz="2000" dirty="0" err="1" smtClean="0"/>
              <a:t>optimization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Example</a:t>
            </a:r>
            <a:r>
              <a:rPr lang="hu-HU" sz="2000" dirty="0" smtClean="0"/>
              <a:t>: 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1. </a:t>
            </a:r>
            <a:r>
              <a:rPr lang="hu-HU" sz="2000" dirty="0" err="1" smtClean="0"/>
              <a:t>clusters</a:t>
            </a:r>
            <a:r>
              <a:rPr lang="hu-HU" sz="2000" dirty="0" smtClean="0"/>
              <a:t> of </a:t>
            </a:r>
            <a:r>
              <a:rPr lang="hu-HU" sz="2000" dirty="0" err="1" smtClean="0"/>
              <a:t>guest</a:t>
            </a:r>
            <a:r>
              <a:rPr lang="hu-HU" sz="2000" dirty="0" smtClean="0"/>
              <a:t> </a:t>
            </a:r>
            <a:r>
              <a:rPr lang="hu-HU" sz="2000" dirty="0" err="1" smtClean="0"/>
              <a:t>types</a:t>
            </a:r>
            <a:r>
              <a:rPr lang="hu-HU" sz="2000" dirty="0" smtClean="0"/>
              <a:t>:  business, </a:t>
            </a:r>
            <a:r>
              <a:rPr lang="hu-HU" sz="2000" dirty="0" err="1" smtClean="0"/>
              <a:t>family</a:t>
            </a:r>
            <a:r>
              <a:rPr lang="hu-HU" sz="2000" dirty="0" smtClean="0"/>
              <a:t>, </a:t>
            </a:r>
            <a:r>
              <a:rPr lang="hu-HU" sz="2000" dirty="0" err="1" smtClean="0"/>
              <a:t>single</a:t>
            </a:r>
            <a:r>
              <a:rPr lang="hu-HU" sz="2000" dirty="0" smtClean="0"/>
              <a:t>, </a:t>
            </a:r>
            <a:r>
              <a:rPr lang="hu-HU" sz="2000" dirty="0" err="1" smtClean="0"/>
              <a:t>outgoer</a:t>
            </a:r>
            <a:r>
              <a:rPr lang="hu-HU" sz="2000" dirty="0" smtClean="0"/>
              <a:t>, </a:t>
            </a:r>
            <a:r>
              <a:rPr lang="hu-HU" sz="2000" dirty="0" err="1" smtClean="0"/>
              <a:t>etc</a:t>
            </a:r>
            <a:r>
              <a:rPr lang="hu-HU" sz="2000" dirty="0" smtClean="0"/>
              <a:t> (</a:t>
            </a:r>
            <a:r>
              <a:rPr lang="hu-HU" sz="2000" dirty="0" err="1" smtClean="0"/>
              <a:t>can</a:t>
            </a:r>
            <a:r>
              <a:rPr lang="hu-HU" sz="2000" dirty="0" smtClean="0"/>
              <a:t> be </a:t>
            </a:r>
            <a:r>
              <a:rPr lang="hu-HU" sz="2000" dirty="0" err="1" smtClean="0"/>
              <a:t>unsupervised</a:t>
            </a:r>
            <a:r>
              <a:rPr lang="hu-HU" sz="2000" dirty="0" smtClean="0"/>
              <a:t> </a:t>
            </a:r>
            <a:r>
              <a:rPr lang="hu-HU" sz="2000" dirty="0" err="1" smtClean="0"/>
              <a:t>clustering</a:t>
            </a:r>
            <a:r>
              <a:rPr lang="hu-HU" sz="2000" dirty="0" smtClean="0"/>
              <a:t> </a:t>
            </a:r>
            <a:r>
              <a:rPr lang="hu-HU" sz="2000" dirty="0" err="1" smtClean="0"/>
              <a:t>as</a:t>
            </a:r>
            <a:r>
              <a:rPr lang="hu-HU" sz="2000" dirty="0" smtClean="0"/>
              <a:t> </a:t>
            </a:r>
            <a:r>
              <a:rPr lang="hu-HU" sz="2000" dirty="0" err="1" smtClean="0"/>
              <a:t>well</a:t>
            </a:r>
            <a:r>
              <a:rPr lang="hu-HU" sz="2000" dirty="0" smtClean="0"/>
              <a:t>)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2. </a:t>
            </a:r>
            <a:r>
              <a:rPr lang="hu-HU" sz="2000" dirty="0" err="1" smtClean="0"/>
              <a:t>identify</a:t>
            </a:r>
            <a:r>
              <a:rPr lang="hu-HU" sz="2000" dirty="0" smtClean="0"/>
              <a:t> </a:t>
            </a:r>
            <a:r>
              <a:rPr lang="hu-HU" sz="2000" dirty="0" err="1" smtClean="0"/>
              <a:t>feature</a:t>
            </a:r>
            <a:r>
              <a:rPr lang="hu-HU" sz="2000" dirty="0" smtClean="0"/>
              <a:t> </a:t>
            </a:r>
            <a:r>
              <a:rPr lang="hu-HU" sz="2000" dirty="0" err="1" smtClean="0"/>
              <a:t>importances</a:t>
            </a:r>
            <a:r>
              <a:rPr lang="hu-HU" sz="2000" dirty="0" smtClean="0"/>
              <a:t> -&gt; </a:t>
            </a:r>
            <a:r>
              <a:rPr lang="hu-HU" sz="2000" dirty="0" err="1" smtClean="0"/>
              <a:t>gather</a:t>
            </a:r>
            <a:r>
              <a:rPr lang="hu-HU" sz="2000" dirty="0" smtClean="0"/>
              <a:t>/</a:t>
            </a:r>
            <a:r>
              <a:rPr lang="hu-HU" sz="2000" dirty="0" err="1" smtClean="0"/>
              <a:t>enrich</a:t>
            </a:r>
            <a:r>
              <a:rPr lang="hu-HU" sz="2000" dirty="0" smtClean="0"/>
              <a:t> </a:t>
            </a:r>
            <a:r>
              <a:rPr lang="hu-HU" sz="2000" dirty="0" err="1" smtClean="0"/>
              <a:t>data</a:t>
            </a:r>
            <a:endParaRPr lang="hu-HU" sz="2000" dirty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3. </a:t>
            </a:r>
            <a:r>
              <a:rPr lang="hu-HU" sz="2000" dirty="0" err="1" smtClean="0"/>
              <a:t>Clusters</a:t>
            </a:r>
            <a:r>
              <a:rPr lang="hu-HU" sz="2000" dirty="0" smtClean="0"/>
              <a:t> of </a:t>
            </a:r>
            <a:r>
              <a:rPr lang="hu-HU" sz="2000" dirty="0" err="1" smtClean="0"/>
              <a:t>hotels</a:t>
            </a:r>
            <a:r>
              <a:rPr lang="hu-HU" sz="2000" dirty="0" smtClean="0"/>
              <a:t> </a:t>
            </a:r>
            <a:r>
              <a:rPr lang="hu-HU" sz="2000" dirty="0" err="1" smtClean="0"/>
              <a:t>preferred</a:t>
            </a:r>
            <a:r>
              <a:rPr lang="hu-HU" sz="2000" dirty="0" smtClean="0"/>
              <a:t> </a:t>
            </a:r>
            <a:r>
              <a:rPr lang="hu-HU" sz="2000" dirty="0" err="1" smtClean="0"/>
              <a:t>by</a:t>
            </a:r>
            <a:r>
              <a:rPr lang="hu-HU" sz="2000" dirty="0" smtClean="0"/>
              <a:t> </a:t>
            </a:r>
            <a:r>
              <a:rPr lang="hu-HU" sz="2000" dirty="0" err="1" smtClean="0"/>
              <a:t>guest</a:t>
            </a:r>
            <a:r>
              <a:rPr lang="hu-HU" sz="2000" dirty="0" smtClean="0"/>
              <a:t> </a:t>
            </a:r>
            <a:r>
              <a:rPr lang="hu-HU" sz="2000" dirty="0" err="1" smtClean="0"/>
              <a:t>types</a:t>
            </a:r>
            <a:r>
              <a:rPr lang="hu-HU" sz="2000" dirty="0" smtClean="0"/>
              <a:t> -&gt; </a:t>
            </a:r>
            <a:r>
              <a:rPr lang="hu-HU" sz="2000" dirty="0" err="1" smtClean="0"/>
              <a:t>customized</a:t>
            </a:r>
            <a:r>
              <a:rPr lang="hu-HU" sz="2000" dirty="0" smtClean="0"/>
              <a:t> </a:t>
            </a:r>
            <a:r>
              <a:rPr lang="hu-HU" sz="2000" dirty="0" err="1" smtClean="0"/>
              <a:t>offer</a:t>
            </a:r>
            <a:endParaRPr lang="hu-HU" sz="1800" dirty="0" smtClean="0"/>
          </a:p>
          <a:p>
            <a:pPr algn="l"/>
            <a:r>
              <a:rPr lang="hu-HU" sz="2000" dirty="0" smtClean="0"/>
              <a:t> </a:t>
            </a:r>
          </a:p>
          <a:p>
            <a:pPr algn="l"/>
            <a:endParaRPr lang="hu-HU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algn="l"/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43084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Q2. </a:t>
            </a:r>
            <a:r>
              <a:rPr lang="en-US" sz="2800" b="1" dirty="0"/>
              <a:t>What investigatory techniques would you use</a:t>
            </a:r>
            <a:r>
              <a:rPr lang="en-US" sz="2800" b="1" dirty="0" smtClean="0"/>
              <a:t>?</a:t>
            </a:r>
            <a:endParaRPr lang="hu-HU" sz="2800" dirty="0" smtClean="0"/>
          </a:p>
          <a:p>
            <a:pPr algn="l"/>
            <a:endParaRPr lang="hu-HU" sz="2800" dirty="0" smtClean="0"/>
          </a:p>
          <a:p>
            <a:pPr algn="l"/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704334" y="1258374"/>
            <a:ext cx="9333471" cy="34907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More </a:t>
            </a:r>
            <a:r>
              <a:rPr lang="hu-HU" sz="2000" dirty="0" err="1" smtClean="0"/>
              <a:t>or</a:t>
            </a:r>
            <a:r>
              <a:rPr lang="hu-HU" sz="2000" dirty="0" smtClean="0"/>
              <a:t> less </a:t>
            </a:r>
            <a:r>
              <a:rPr lang="hu-HU" sz="2000" dirty="0" err="1" smtClean="0"/>
              <a:t>explained</a:t>
            </a:r>
            <a:r>
              <a:rPr lang="hu-HU" sz="2000" dirty="0" smtClean="0"/>
              <a:t> </a:t>
            </a:r>
            <a:r>
              <a:rPr lang="hu-HU" sz="2000" dirty="0" err="1" smtClean="0"/>
              <a:t>in</a:t>
            </a:r>
            <a:r>
              <a:rPr lang="hu-HU" sz="2000" dirty="0" smtClean="0"/>
              <a:t> Q1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CRISP - DM: 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1. Business </a:t>
            </a:r>
            <a:r>
              <a:rPr lang="hu-HU" dirty="0" err="1" smtClean="0"/>
              <a:t>understanding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2. </a:t>
            </a:r>
            <a:r>
              <a:rPr lang="hu-HU" dirty="0"/>
              <a:t>D</a:t>
            </a:r>
            <a:r>
              <a:rPr lang="hu-HU" dirty="0" smtClean="0"/>
              <a:t>ata </a:t>
            </a:r>
            <a:r>
              <a:rPr lang="hu-HU" dirty="0" err="1" smtClean="0"/>
              <a:t>understanding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3. Data </a:t>
            </a:r>
            <a:r>
              <a:rPr lang="hu-HU" dirty="0" err="1" smtClean="0"/>
              <a:t>preparation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4. Modelling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5. </a:t>
            </a:r>
            <a:r>
              <a:rPr lang="hu-HU" dirty="0" err="1" smtClean="0"/>
              <a:t>Evaluation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6. </a:t>
            </a:r>
            <a:r>
              <a:rPr lang="hu-HU" dirty="0" err="1" smtClean="0"/>
              <a:t>Deployment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hu-HU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EDA (</a:t>
            </a:r>
            <a:r>
              <a:rPr lang="hu-HU" sz="2000" dirty="0" err="1" smtClean="0"/>
              <a:t>exploratory</a:t>
            </a:r>
            <a:r>
              <a:rPr lang="hu-HU" sz="2000" dirty="0" smtClean="0"/>
              <a:t> </a:t>
            </a:r>
            <a:r>
              <a:rPr lang="hu-HU" sz="2000" dirty="0" err="1" smtClean="0"/>
              <a:t>data</a:t>
            </a:r>
            <a:r>
              <a:rPr lang="hu-HU" sz="2000" dirty="0" smtClean="0"/>
              <a:t> </a:t>
            </a:r>
            <a:r>
              <a:rPr lang="hu-HU" sz="2000" dirty="0" err="1" smtClean="0"/>
              <a:t>analysis</a:t>
            </a:r>
            <a:r>
              <a:rPr lang="hu-HU" sz="2000" dirty="0" smtClean="0"/>
              <a:t>), </a:t>
            </a:r>
            <a:r>
              <a:rPr lang="hu-HU" sz="2000" dirty="0" err="1" smtClean="0"/>
              <a:t>feature</a:t>
            </a:r>
            <a:r>
              <a:rPr lang="hu-HU" sz="2000" dirty="0" smtClean="0"/>
              <a:t> </a:t>
            </a:r>
            <a:r>
              <a:rPr lang="hu-HU" sz="2000" dirty="0" err="1" smtClean="0"/>
              <a:t>engineering</a:t>
            </a:r>
            <a:r>
              <a:rPr lang="hu-HU" sz="2000" dirty="0" smtClean="0"/>
              <a:t>, </a:t>
            </a:r>
            <a:r>
              <a:rPr lang="hu-HU" sz="2000" dirty="0" err="1" smtClean="0"/>
              <a:t>data</a:t>
            </a:r>
            <a:r>
              <a:rPr lang="hu-HU" sz="2000" dirty="0" smtClean="0"/>
              <a:t> </a:t>
            </a:r>
            <a:r>
              <a:rPr lang="hu-HU" sz="2000" dirty="0" err="1" smtClean="0"/>
              <a:t>imputation</a:t>
            </a:r>
            <a:r>
              <a:rPr lang="hu-HU" sz="2000" dirty="0" smtClean="0"/>
              <a:t>, </a:t>
            </a:r>
            <a:r>
              <a:rPr lang="hu-HU" sz="2000" dirty="0" err="1" smtClean="0"/>
              <a:t>clustering</a:t>
            </a:r>
            <a:r>
              <a:rPr lang="hu-HU" sz="2000" dirty="0" smtClean="0"/>
              <a:t>, modelling (</a:t>
            </a:r>
            <a:r>
              <a:rPr lang="hu-HU" sz="2000" dirty="0" err="1" smtClean="0"/>
              <a:t>unsupervised</a:t>
            </a:r>
            <a:r>
              <a:rPr lang="hu-HU" sz="2000" dirty="0" smtClean="0"/>
              <a:t>/</a:t>
            </a:r>
            <a:r>
              <a:rPr lang="hu-HU" sz="2000" dirty="0" err="1" smtClean="0"/>
              <a:t>supervised</a:t>
            </a:r>
            <a:r>
              <a:rPr lang="hu-HU" sz="2000" dirty="0" smtClean="0"/>
              <a:t>)</a:t>
            </a:r>
          </a:p>
          <a:p>
            <a:pPr algn="l"/>
            <a:endParaRPr lang="hu-HU" sz="20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algn="l"/>
            <a:endParaRPr lang="hu-HU" sz="2000" dirty="0"/>
          </a:p>
        </p:txBody>
      </p:sp>
      <p:grpSp>
        <p:nvGrpSpPr>
          <p:cNvPr id="7" name="Csoportba foglalás 6"/>
          <p:cNvGrpSpPr/>
          <p:nvPr/>
        </p:nvGrpSpPr>
        <p:grpSpPr>
          <a:xfrm>
            <a:off x="5523470" y="2052228"/>
            <a:ext cx="1775254" cy="2050215"/>
            <a:chOff x="5976552" y="2068704"/>
            <a:chExt cx="1775254" cy="2050215"/>
          </a:xfrm>
        </p:grpSpPr>
        <p:sp>
          <p:nvSpPr>
            <p:cNvPr id="2" name="Szalagnyíl felfelé 1"/>
            <p:cNvSpPr/>
            <p:nvPr/>
          </p:nvSpPr>
          <p:spPr>
            <a:xfrm>
              <a:off x="6071287" y="3138616"/>
              <a:ext cx="1680519" cy="980303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6" name="Szalagnyíl felfelé 5"/>
            <p:cNvSpPr/>
            <p:nvPr/>
          </p:nvSpPr>
          <p:spPr>
            <a:xfrm rot="10800000">
              <a:off x="5976552" y="2068704"/>
              <a:ext cx="1680519" cy="980303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237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Q3. </a:t>
            </a:r>
            <a:r>
              <a:rPr lang="en-US" sz="2800" b="1" dirty="0"/>
              <a:t>What outputs would you expect to create?</a:t>
            </a:r>
            <a:endParaRPr lang="hu-HU" sz="2800" dirty="0" smtClean="0"/>
          </a:p>
          <a:p>
            <a:pPr algn="l"/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1272745" y="1571412"/>
            <a:ext cx="7187515" cy="24404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Clusters</a:t>
            </a:r>
            <a:r>
              <a:rPr lang="hu-HU" sz="2000" dirty="0" smtClean="0"/>
              <a:t> of </a:t>
            </a:r>
            <a:r>
              <a:rPr lang="hu-HU" sz="2000" dirty="0" err="1" smtClean="0"/>
              <a:t>guest</a:t>
            </a:r>
            <a:r>
              <a:rPr lang="hu-HU" sz="2000" dirty="0" smtClean="0"/>
              <a:t> </a:t>
            </a:r>
            <a:r>
              <a:rPr lang="hu-HU" sz="2000" dirty="0" err="1" smtClean="0"/>
              <a:t>types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Clusters</a:t>
            </a:r>
            <a:r>
              <a:rPr lang="hu-HU" sz="2000" dirty="0" smtClean="0"/>
              <a:t> of hotel </a:t>
            </a:r>
            <a:r>
              <a:rPr lang="hu-HU" sz="2000" dirty="0" err="1" smtClean="0"/>
              <a:t>types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smtClean="0"/>
              <a:t>New, </a:t>
            </a:r>
            <a:r>
              <a:rPr lang="hu-HU" sz="2000" dirty="0" err="1" smtClean="0"/>
              <a:t>enriched</a:t>
            </a:r>
            <a:r>
              <a:rPr lang="hu-HU" sz="2000" dirty="0" smtClean="0"/>
              <a:t> </a:t>
            </a:r>
            <a:r>
              <a:rPr lang="hu-HU" sz="2000" dirty="0" err="1" smtClean="0"/>
              <a:t>database</a:t>
            </a:r>
            <a:r>
              <a:rPr lang="hu-HU" sz="2000" dirty="0" smtClean="0"/>
              <a:t>/</a:t>
            </a:r>
            <a:r>
              <a:rPr lang="hu-HU" sz="2000" dirty="0" err="1" smtClean="0"/>
              <a:t>datasets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Feature</a:t>
            </a:r>
            <a:r>
              <a:rPr lang="hu-HU" sz="2000" dirty="0" smtClean="0"/>
              <a:t> </a:t>
            </a:r>
            <a:r>
              <a:rPr lang="hu-HU" sz="2000" dirty="0" err="1" smtClean="0"/>
              <a:t>importances</a:t>
            </a: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endParaRPr lang="hu-HU" sz="2000" dirty="0" smtClean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Model</a:t>
            </a:r>
            <a:r>
              <a:rPr lang="hu-HU" sz="2000" dirty="0" smtClean="0"/>
              <a:t> </a:t>
            </a:r>
            <a:r>
              <a:rPr lang="hu-HU" sz="2000" dirty="0" err="1" smtClean="0"/>
              <a:t>performances</a:t>
            </a:r>
            <a:endParaRPr lang="hu-HU" sz="2000" dirty="0" smtClean="0"/>
          </a:p>
        </p:txBody>
      </p:sp>
    </p:spTree>
    <p:extLst>
      <p:ext uri="{BB962C8B-B14F-4D97-AF65-F5344CB8AC3E}">
        <p14:creationId xmlns:p14="http://schemas.microsoft.com/office/powerpoint/2010/main" val="152293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Q3-1. </a:t>
            </a:r>
            <a:r>
              <a:rPr lang="en-US" sz="2800" b="1" dirty="0"/>
              <a:t>How would you measure success? What metrics would you be interested in, and </a:t>
            </a:r>
            <a:r>
              <a:rPr lang="en-US" sz="2800" b="1" dirty="0" smtClean="0"/>
              <a:t>how</a:t>
            </a:r>
            <a:r>
              <a:rPr lang="hu-HU" sz="2800" b="1" dirty="0" smtClean="0"/>
              <a:t> </a:t>
            </a:r>
            <a:r>
              <a:rPr lang="en-US" sz="2800" b="1" dirty="0" smtClean="0"/>
              <a:t>might </a:t>
            </a:r>
            <a:r>
              <a:rPr lang="en-US" sz="2800" b="1" dirty="0"/>
              <a:t>you present them to stakeholders?</a:t>
            </a: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856735" y="2337531"/>
            <a:ext cx="7187515" cy="40797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sz="2000" dirty="0" err="1" smtClean="0"/>
              <a:t>Different</a:t>
            </a:r>
            <a:r>
              <a:rPr lang="hu-HU" sz="2000" dirty="0" smtClean="0"/>
              <a:t> </a:t>
            </a:r>
            <a:r>
              <a:rPr lang="hu-HU" sz="2000" dirty="0" err="1" smtClean="0"/>
              <a:t>type</a:t>
            </a:r>
            <a:r>
              <a:rPr lang="hu-HU" sz="2000" dirty="0" smtClean="0"/>
              <a:t> of </a:t>
            </a:r>
            <a:r>
              <a:rPr lang="hu-HU" sz="2000" dirty="0" err="1" smtClean="0"/>
              <a:t>metrics</a:t>
            </a:r>
            <a:r>
              <a:rPr lang="hu-HU" sz="2000" dirty="0" smtClean="0"/>
              <a:t>: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smtClean="0"/>
              <a:t>Business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metrics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metrics</a:t>
            </a:r>
            <a:endParaRPr lang="hu-HU" dirty="0" smtClean="0"/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hu-HU" dirty="0"/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hu-HU" dirty="0" err="1" smtClean="0"/>
              <a:t>For</a:t>
            </a:r>
            <a:r>
              <a:rPr lang="hu-HU" dirty="0" smtClean="0"/>
              <a:t> an </a:t>
            </a:r>
            <a:r>
              <a:rPr lang="hu-HU" dirty="0" err="1" smtClean="0"/>
              <a:t>accurate</a:t>
            </a:r>
            <a:r>
              <a:rPr lang="hu-HU" dirty="0" smtClean="0"/>
              <a:t> </a:t>
            </a:r>
            <a:r>
              <a:rPr lang="hu-HU" dirty="0" err="1" smtClean="0"/>
              <a:t>metric</a:t>
            </a:r>
            <a:r>
              <a:rPr lang="hu-HU" dirty="0" smtClean="0"/>
              <a:t>: </a:t>
            </a:r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goal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and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interact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22267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Q3-2. </a:t>
            </a:r>
            <a:r>
              <a:rPr lang="en-US" sz="2800" b="1" dirty="0"/>
              <a:t>How would you measure success? What metrics would you be interested in, and </a:t>
            </a:r>
            <a:r>
              <a:rPr lang="en-US" sz="2800" b="1" dirty="0" smtClean="0"/>
              <a:t>how</a:t>
            </a:r>
            <a:r>
              <a:rPr lang="hu-HU" sz="2800" b="1" dirty="0" smtClean="0"/>
              <a:t> </a:t>
            </a:r>
            <a:r>
              <a:rPr lang="en-US" sz="2800" b="1" dirty="0" smtClean="0"/>
              <a:t>might </a:t>
            </a:r>
            <a:r>
              <a:rPr lang="en-US" sz="2800" b="1" dirty="0"/>
              <a:t>you present them to stakeholders?</a:t>
            </a: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856735" y="2337531"/>
            <a:ext cx="7187515" cy="40797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smtClean="0"/>
              <a:t>Business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metrics</a:t>
            </a:r>
            <a:r>
              <a:rPr lang="hu-HU" dirty="0" smtClean="0"/>
              <a:t>: 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Clickthrough</a:t>
            </a:r>
            <a:r>
              <a:rPr lang="hu-HU" dirty="0" smtClean="0"/>
              <a:t> </a:t>
            </a:r>
            <a:r>
              <a:rPr lang="hu-HU" dirty="0" err="1"/>
              <a:t>rate</a:t>
            </a:r>
            <a:r>
              <a:rPr lang="hu-HU" dirty="0"/>
              <a:t> </a:t>
            </a:r>
            <a:endParaRPr lang="hu-HU" dirty="0" smtClean="0"/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Adoption</a:t>
            </a:r>
            <a:r>
              <a:rPr lang="hu-HU" dirty="0" smtClean="0"/>
              <a:t> and </a:t>
            </a:r>
            <a:r>
              <a:rPr lang="hu-HU" dirty="0" err="1" smtClean="0"/>
              <a:t>conversion</a:t>
            </a:r>
            <a:r>
              <a:rPr lang="hu-HU" dirty="0" smtClean="0"/>
              <a:t> </a:t>
            </a:r>
            <a:r>
              <a:rPr lang="hu-HU" dirty="0" err="1" smtClean="0"/>
              <a:t>rate</a:t>
            </a:r>
            <a:endParaRPr lang="hu-HU" dirty="0" smtClean="0"/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Sales</a:t>
            </a:r>
            <a:r>
              <a:rPr lang="hu-HU" dirty="0" smtClean="0"/>
              <a:t>/</a:t>
            </a:r>
            <a:r>
              <a:rPr lang="hu-HU" dirty="0" err="1" smtClean="0"/>
              <a:t>revenues</a:t>
            </a:r>
            <a:endParaRPr lang="hu-HU" dirty="0" smtClean="0"/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User</a:t>
            </a:r>
            <a:r>
              <a:rPr lang="hu-HU" dirty="0" smtClean="0"/>
              <a:t> </a:t>
            </a:r>
            <a:r>
              <a:rPr lang="hu-HU" dirty="0" err="1" smtClean="0"/>
              <a:t>engagement</a:t>
            </a:r>
            <a:r>
              <a:rPr lang="hu-HU" dirty="0" smtClean="0"/>
              <a:t> and </a:t>
            </a:r>
            <a:r>
              <a:rPr lang="hu-HU" dirty="0" err="1" smtClean="0"/>
              <a:t>behaviour</a:t>
            </a:r>
            <a:r>
              <a:rPr lang="hu-HU" dirty="0" smtClean="0"/>
              <a:t> (</a:t>
            </a:r>
            <a:r>
              <a:rPr lang="hu-HU" dirty="0" err="1" smtClean="0"/>
              <a:t>retention</a:t>
            </a:r>
            <a:r>
              <a:rPr lang="hu-HU" dirty="0" smtClean="0"/>
              <a:t>)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(most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times</a:t>
            </a:r>
            <a:r>
              <a:rPr lang="hu-HU" dirty="0"/>
              <a:t> </a:t>
            </a:r>
            <a:r>
              <a:rPr lang="hu-HU" dirty="0" err="1"/>
              <a:t>should</a:t>
            </a:r>
            <a:r>
              <a:rPr lang="hu-HU" dirty="0"/>
              <a:t> be </a:t>
            </a:r>
            <a:r>
              <a:rPr lang="hu-HU" dirty="0" err="1"/>
              <a:t>discussed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business -&gt; </a:t>
            </a:r>
            <a:r>
              <a:rPr lang="hu-HU" dirty="0" err="1"/>
              <a:t>business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 </a:t>
            </a:r>
            <a:r>
              <a:rPr lang="hu-HU" dirty="0" err="1"/>
              <a:t>dependent</a:t>
            </a:r>
            <a:r>
              <a:rPr lang="hu-HU" dirty="0"/>
              <a:t>)</a:t>
            </a:r>
          </a:p>
          <a:p>
            <a:pPr lvl="1" algn="l">
              <a:lnSpc>
                <a:spcPct val="150000"/>
              </a:lnSpc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684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56735" y="413996"/>
            <a:ext cx="9333471" cy="665161"/>
          </a:xfrm>
        </p:spPr>
        <p:txBody>
          <a:bodyPr>
            <a:noAutofit/>
          </a:bodyPr>
          <a:lstStyle/>
          <a:p>
            <a:pPr algn="l"/>
            <a:r>
              <a:rPr lang="hu-HU" sz="2800" b="1" dirty="0" smtClean="0"/>
              <a:t>Q3-3. </a:t>
            </a:r>
            <a:r>
              <a:rPr lang="en-US" sz="2800" b="1" dirty="0"/>
              <a:t>How would you measure success? What metrics would you be interested in, and </a:t>
            </a:r>
            <a:r>
              <a:rPr lang="en-US" sz="2800" b="1" dirty="0" smtClean="0"/>
              <a:t>how</a:t>
            </a:r>
            <a:r>
              <a:rPr lang="hu-HU" sz="2800" b="1" dirty="0" smtClean="0"/>
              <a:t> </a:t>
            </a:r>
            <a:r>
              <a:rPr lang="en-US" sz="2800" b="1" dirty="0" smtClean="0"/>
              <a:t>might </a:t>
            </a:r>
            <a:r>
              <a:rPr lang="en-US" sz="2800" b="1" dirty="0"/>
              <a:t>you present them to stakeholders?</a:t>
            </a:r>
            <a:endParaRPr lang="hu-HU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sz="2800" dirty="0"/>
          </a:p>
          <a:p>
            <a:pPr algn="l"/>
            <a:endParaRPr lang="hu-HU" sz="2800" dirty="0"/>
          </a:p>
        </p:txBody>
      </p:sp>
      <p:sp>
        <p:nvSpPr>
          <p:cNvPr id="4" name="Alcím 2"/>
          <p:cNvSpPr txBox="1">
            <a:spLocks/>
          </p:cNvSpPr>
          <p:nvPr/>
        </p:nvSpPr>
        <p:spPr>
          <a:xfrm>
            <a:off x="856735" y="2337531"/>
            <a:ext cx="7187515" cy="40797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metrics</a:t>
            </a:r>
            <a:r>
              <a:rPr lang="hu-HU" dirty="0" smtClean="0"/>
              <a:t>: 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Regression</a:t>
            </a:r>
            <a:r>
              <a:rPr lang="hu-HU" dirty="0" smtClean="0"/>
              <a:t>: MAE, MSE, RMSE, NMAE, R</a:t>
            </a:r>
            <a:r>
              <a:rPr lang="hu-HU" baseline="30000" dirty="0" smtClean="0"/>
              <a:t>2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Classification</a:t>
            </a:r>
            <a:r>
              <a:rPr lang="hu-HU" dirty="0" smtClean="0"/>
              <a:t>: </a:t>
            </a:r>
            <a:r>
              <a:rPr lang="hu-HU" dirty="0" err="1" smtClean="0"/>
              <a:t>precision</a:t>
            </a:r>
            <a:r>
              <a:rPr lang="hu-HU" dirty="0" smtClean="0"/>
              <a:t>, </a:t>
            </a:r>
            <a:r>
              <a:rPr lang="hu-HU" dirty="0" err="1" smtClean="0"/>
              <a:t>recall</a:t>
            </a:r>
            <a:r>
              <a:rPr lang="hu-HU" dirty="0" smtClean="0"/>
              <a:t>, </a:t>
            </a:r>
            <a:r>
              <a:rPr lang="hu-HU" dirty="0" err="1" smtClean="0"/>
              <a:t>fallout</a:t>
            </a:r>
            <a:r>
              <a:rPr lang="hu-HU" dirty="0" smtClean="0"/>
              <a:t>, F1, </a:t>
            </a:r>
            <a:r>
              <a:rPr lang="hu-HU" dirty="0" err="1" smtClean="0"/>
              <a:t>inverses</a:t>
            </a:r>
            <a:r>
              <a:rPr lang="hu-HU" dirty="0" smtClean="0"/>
              <a:t>, </a:t>
            </a:r>
            <a:r>
              <a:rPr lang="hu-HU" dirty="0" err="1" smtClean="0"/>
              <a:t>mean</a:t>
            </a:r>
            <a:r>
              <a:rPr lang="hu-HU" dirty="0" smtClean="0"/>
              <a:t> </a:t>
            </a:r>
            <a:r>
              <a:rPr lang="hu-HU" dirty="0" err="1" smtClean="0"/>
              <a:t>average</a:t>
            </a:r>
            <a:r>
              <a:rPr lang="hu-HU" dirty="0" smtClean="0"/>
              <a:t> </a:t>
            </a:r>
            <a:r>
              <a:rPr lang="hu-HU" dirty="0" err="1" smtClean="0"/>
              <a:t>precision</a:t>
            </a:r>
            <a:r>
              <a:rPr lang="hu-HU" dirty="0" smtClean="0"/>
              <a:t>, AUC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Ranking</a:t>
            </a:r>
            <a:r>
              <a:rPr lang="hu-HU" dirty="0" smtClean="0"/>
              <a:t>: </a:t>
            </a:r>
            <a:r>
              <a:rPr lang="hu-HU" dirty="0" err="1" smtClean="0"/>
              <a:t>kendall’s</a:t>
            </a:r>
            <a:r>
              <a:rPr lang="hu-HU" dirty="0" smtClean="0"/>
              <a:t> </a:t>
            </a:r>
            <a:r>
              <a:rPr lang="hu-HU" dirty="0" err="1" smtClean="0"/>
              <a:t>tau</a:t>
            </a:r>
            <a:r>
              <a:rPr lang="hu-HU" dirty="0" smtClean="0"/>
              <a:t>, </a:t>
            </a:r>
            <a:r>
              <a:rPr lang="hu-HU" dirty="0" err="1" smtClean="0"/>
              <a:t>Spearman’s</a:t>
            </a:r>
            <a:r>
              <a:rPr lang="hu-HU" dirty="0" smtClean="0"/>
              <a:t> </a:t>
            </a:r>
            <a:r>
              <a:rPr lang="hu-HU" dirty="0" err="1" smtClean="0"/>
              <a:t>rho</a:t>
            </a:r>
            <a:endParaRPr lang="hu-HU" dirty="0" smtClean="0"/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smtClean="0"/>
              <a:t>Advanced </a:t>
            </a:r>
            <a:r>
              <a:rPr lang="hu-HU" dirty="0" err="1" smtClean="0"/>
              <a:t>metrics</a:t>
            </a:r>
            <a:r>
              <a:rPr lang="hu-HU" dirty="0" smtClean="0"/>
              <a:t>: </a:t>
            </a:r>
            <a:r>
              <a:rPr lang="hu-HU" dirty="0" err="1" smtClean="0"/>
              <a:t>markedness</a:t>
            </a:r>
            <a:r>
              <a:rPr lang="hu-HU" dirty="0" smtClean="0"/>
              <a:t>, </a:t>
            </a:r>
            <a:r>
              <a:rPr lang="hu-HU" dirty="0" err="1" smtClean="0"/>
              <a:t>informedness</a:t>
            </a:r>
            <a:r>
              <a:rPr lang="hu-HU" dirty="0" smtClean="0"/>
              <a:t>, Limited ROC</a:t>
            </a:r>
          </a:p>
          <a:p>
            <a:pPr marL="971550" lvl="1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really</a:t>
            </a:r>
            <a:r>
              <a:rPr lang="hu-HU" dirty="0" smtClean="0"/>
              <a:t> </a:t>
            </a:r>
            <a:r>
              <a:rPr lang="hu-HU" dirty="0" err="1" smtClean="0"/>
              <a:t>depends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stakeholders</a:t>
            </a:r>
            <a:r>
              <a:rPr lang="hu-HU" dirty="0" smtClean="0"/>
              <a:t> </a:t>
            </a:r>
            <a:r>
              <a:rPr lang="hu-HU" dirty="0" err="1" smtClean="0"/>
              <a:t>expertise</a:t>
            </a:r>
            <a:endParaRPr lang="hu-HU" dirty="0"/>
          </a:p>
          <a:p>
            <a:pPr marL="1428750" lvl="2" indent="-5143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 err="1" smtClean="0"/>
              <a:t>applied</a:t>
            </a:r>
            <a:r>
              <a:rPr lang="hu-HU" dirty="0" smtClean="0"/>
              <a:t> 2 </a:t>
            </a:r>
            <a:r>
              <a:rPr lang="hu-HU" dirty="0" err="1" smtClean="0"/>
              <a:t>metrics</a:t>
            </a:r>
            <a:r>
              <a:rPr lang="hu-HU" dirty="0" smtClean="0"/>
              <a:t>,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board</a:t>
            </a:r>
            <a:r>
              <a:rPr lang="hu-HU" dirty="0" smtClean="0"/>
              <a:t>,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myself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52576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cím 2"/>
          <p:cNvSpPr txBox="1">
            <a:spLocks/>
          </p:cNvSpPr>
          <p:nvPr/>
        </p:nvSpPr>
        <p:spPr>
          <a:xfrm>
            <a:off x="2813223" y="2469337"/>
            <a:ext cx="4893276" cy="665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8800" b="1" dirty="0" smtClean="0"/>
              <a:t>Q&amp;A</a:t>
            </a:r>
            <a:endParaRPr lang="hu-HU" sz="8800" dirty="0" smtClean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hu-HU" sz="8800" dirty="0" smtClean="0"/>
          </a:p>
          <a:p>
            <a:pPr algn="ctr"/>
            <a:endParaRPr lang="hu-HU" sz="8800" dirty="0"/>
          </a:p>
        </p:txBody>
      </p:sp>
    </p:spTree>
    <p:extLst>
      <p:ext uri="{BB962C8B-B14F-4D97-AF65-F5344CB8AC3E}">
        <p14:creationId xmlns:p14="http://schemas.microsoft.com/office/powerpoint/2010/main" val="252188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3048002" y="3116007"/>
            <a:ext cx="4893276" cy="665161"/>
          </a:xfrm>
        </p:spPr>
        <p:txBody>
          <a:bodyPr>
            <a:noAutofit/>
          </a:bodyPr>
          <a:lstStyle/>
          <a:p>
            <a:pPr algn="ctr"/>
            <a:r>
              <a:rPr lang="hu-HU" sz="6000" b="1" dirty="0" smtClean="0"/>
              <a:t>THANK YOU!</a:t>
            </a:r>
            <a:endParaRPr lang="hu-HU" sz="6000" dirty="0" smtClean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hu-HU" sz="6000" dirty="0"/>
          </a:p>
          <a:p>
            <a:pPr algn="ctr"/>
            <a:endParaRPr lang="hu-HU" sz="6000" dirty="0"/>
          </a:p>
        </p:txBody>
      </p:sp>
    </p:spTree>
    <p:extLst>
      <p:ext uri="{BB962C8B-B14F-4D97-AF65-F5344CB8AC3E}">
        <p14:creationId xmlns:p14="http://schemas.microsoft.com/office/powerpoint/2010/main" val="137140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zetta">
  <a:themeElements>
    <a:clrScheme name="Fazet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</TotalTime>
  <Words>590</Words>
  <Application>Microsoft Office PowerPoint</Application>
  <PresentationFormat>Szélesvásznú</PresentationFormat>
  <Paragraphs>112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Fazetta</vt:lpstr>
      <vt:lpstr>Grapevine assignment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  <vt:lpstr>PowerPoint bemutató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Grapevine assignment</dc:title>
  <dc:creator>Pali</dc:creator>
  <cp:lastModifiedBy>Pali</cp:lastModifiedBy>
  <cp:revision>17</cp:revision>
  <dcterms:created xsi:type="dcterms:W3CDTF">2022-03-29T09:16:56Z</dcterms:created>
  <dcterms:modified xsi:type="dcterms:W3CDTF">2022-03-29T11:24:53Z</dcterms:modified>
</cp:coreProperties>
</file>